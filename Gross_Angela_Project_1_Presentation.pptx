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2"/>
    <p:sldId id="257" r:id="rId3"/>
    <p:sldId id="258" r:id="rId4"/>
    <p:sldId id="259" r:id="rId5"/>
    <p:sldId id="260" r:id="rId6"/>
    <p:sldId id="262" r:id="rId7"/>
    <p:sldId id="261"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84" autoAdjust="0"/>
    <p:restoredTop sz="76174" autoAdjust="0"/>
  </p:normalViewPr>
  <p:slideViewPr>
    <p:cSldViewPr snapToGrid="0">
      <p:cViewPr varScale="1">
        <p:scale>
          <a:sx n="61" d="100"/>
          <a:sy n="61" d="100"/>
        </p:scale>
        <p:origin x="115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96AC5E-2FFF-4FDE-AC15-0D73080125EA}" type="datetimeFigureOut">
              <a:rPr lang="en-US" smtClean="0"/>
              <a:t>12/1/2014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E3BF9B-D0A4-40C6-92AA-E5E674BCFAD4}" type="slidenum">
              <a:rPr lang="en-US" smtClean="0"/>
              <a:t>‹#›</a:t>
            </a:fld>
            <a:endParaRPr lang="en-US"/>
          </a:p>
        </p:txBody>
      </p:sp>
    </p:spTree>
    <p:extLst>
      <p:ext uri="{BB962C8B-B14F-4D97-AF65-F5344CB8AC3E}">
        <p14:creationId xmlns:p14="http://schemas.microsoft.com/office/powerpoint/2010/main" val="302099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Rayleigh scattering describes the behavior of air molecules </a:t>
            </a:r>
            <a:r>
              <a:rPr lang="en-US" dirty="0" smtClean="0">
                <a:effectLst/>
              </a:rPr>
              <a:t>scattering the light </a:t>
            </a:r>
            <a:r>
              <a:rPr lang="en-US" dirty="0" smtClean="0">
                <a:effectLst/>
              </a:rPr>
              <a:t>and is responsible for the sky being blue. This is due to the varying of a relevant extinction (or absorption) coefficient in preference of shorter wavelengths, and so blue light (400nm) is scattered a great deal more than red light (700 nm). The reds and oranges seen during sunsets are caused by this preferential scattering as well because the light must traverse through more atmosphere to our eyes. </a:t>
            </a:r>
          </a:p>
          <a:p>
            <a:endParaRPr lang="en-US" dirty="0" smtClean="0">
              <a:effectLst/>
            </a:endParaRPr>
          </a:p>
          <a:p>
            <a:r>
              <a:rPr lang="en-US" dirty="0" smtClean="0">
                <a:effectLst/>
              </a:rPr>
              <a:t>Mie scattering, on the other hand, explains the behavior of </a:t>
            </a:r>
            <a:r>
              <a:rPr lang="en-US" dirty="0" smtClean="0">
                <a:effectLst/>
              </a:rPr>
              <a:t>light scattering </a:t>
            </a:r>
            <a:r>
              <a:rPr lang="en-US" dirty="0" smtClean="0">
                <a:effectLst/>
              </a:rPr>
              <a:t>due to “haze particles”, or particles that are generally larger and scatter more light than molecules. The scattering of these particles cause the whitening of the sky. Although it is difficult to describe haze particles numerically, Preetham uses turbidity, or the ratio of scattering due to haze particles, as a way to do so. Turbidity grossly simplifies the actual nature of the atmosphere, but it is a good enough parameter to use in the application of computer graphics and produces fairly good results. </a:t>
            </a:r>
          </a:p>
          <a:p>
            <a:endParaRPr lang="en-US" dirty="0" smtClean="0">
              <a:effectLst/>
            </a:endParaRPr>
          </a:p>
          <a:p>
            <a:r>
              <a:rPr lang="en-US" sz="1200" kern="1200" dirty="0" smtClean="0">
                <a:solidFill>
                  <a:schemeClr val="tx1"/>
                </a:solidFill>
                <a:effectLst/>
                <a:latin typeface="+mn-lt"/>
                <a:ea typeface="+mn-ea"/>
                <a:cs typeface="+mn-cs"/>
              </a:rPr>
              <a:t>Preetham, A. J., Peter Shirley, and Brian Smits. "A Practical Analytic Model for Daylight." University of Utah.</a:t>
            </a:r>
          </a:p>
          <a:p>
            <a:endParaRPr lang="en-US" dirty="0"/>
          </a:p>
        </p:txBody>
      </p:sp>
      <p:sp>
        <p:nvSpPr>
          <p:cNvPr id="4" name="Slide Number Placeholder 3"/>
          <p:cNvSpPr>
            <a:spLocks noGrp="1"/>
          </p:cNvSpPr>
          <p:nvPr>
            <p:ph type="sldNum" sz="quarter" idx="10"/>
          </p:nvPr>
        </p:nvSpPr>
        <p:spPr/>
        <p:txBody>
          <a:bodyPr/>
          <a:lstStyle/>
          <a:p>
            <a:fld id="{46E3BF9B-D0A4-40C6-92AA-E5E674BCFAD4}" type="slidenum">
              <a:rPr lang="en-US" smtClean="0"/>
              <a:t>2</a:t>
            </a:fld>
            <a:endParaRPr lang="en-US"/>
          </a:p>
        </p:txBody>
      </p:sp>
    </p:spTree>
    <p:extLst>
      <p:ext uri="{BB962C8B-B14F-4D97-AF65-F5344CB8AC3E}">
        <p14:creationId xmlns:p14="http://schemas.microsoft.com/office/powerpoint/2010/main" val="3041499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Preetham, A. J., Peter Shirley, and Brian Smits. "A Practical Analytic Model for Daylight." University of Utah.</a:t>
            </a:r>
          </a:p>
          <a:p>
            <a:endParaRPr lang="en-US" dirty="0" smtClean="0"/>
          </a:p>
          <a:p>
            <a:r>
              <a:rPr lang="en-US" sz="1200" kern="1200" dirty="0" smtClean="0">
                <a:solidFill>
                  <a:schemeClr val="tx1"/>
                </a:solidFill>
                <a:effectLst/>
                <a:latin typeface="+mn-lt"/>
                <a:ea typeface="+mn-ea"/>
                <a:cs typeface="+mn-cs"/>
              </a:rPr>
              <a:t>"The </a:t>
            </a:r>
            <a:r>
              <a:rPr lang="en-US" sz="1200" kern="1200" dirty="0" err="1" smtClean="0">
                <a:solidFill>
                  <a:schemeClr val="tx1"/>
                </a:solidFill>
                <a:effectLst/>
                <a:latin typeface="+mn-lt"/>
                <a:ea typeface="+mn-ea"/>
                <a:cs typeface="+mn-cs"/>
              </a:rPr>
              <a:t>Henyey</a:t>
            </a:r>
            <a:r>
              <a:rPr lang="en-US" sz="1200" kern="1200" dirty="0" smtClean="0">
                <a:solidFill>
                  <a:schemeClr val="tx1"/>
                </a:solidFill>
                <a:effectLst/>
                <a:latin typeface="+mn-lt"/>
                <a:ea typeface="+mn-ea"/>
                <a:cs typeface="+mn-cs"/>
              </a:rPr>
              <a:t>-Greenstein Phase Function." http://www.astro.umd.edu/~jph/HG_note.pdf.</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Preetham, A. J., and N. Hoffman. </a:t>
            </a:r>
            <a:r>
              <a:rPr lang="en-US" sz="1200" kern="1200" dirty="0" err="1" smtClean="0">
                <a:solidFill>
                  <a:schemeClr val="tx1"/>
                </a:solidFill>
                <a:effectLst/>
                <a:latin typeface="+mn-lt"/>
                <a:ea typeface="+mn-ea"/>
                <a:cs typeface="+mn-cs"/>
              </a:rPr>
              <a:t>n.d.</a:t>
            </a:r>
            <a:r>
              <a:rPr lang="en-US" sz="1200" kern="1200" dirty="0" smtClean="0">
                <a:solidFill>
                  <a:schemeClr val="tx1"/>
                </a:solidFill>
                <a:effectLst/>
                <a:latin typeface="+mn-lt"/>
                <a:ea typeface="+mn-ea"/>
                <a:cs typeface="+mn-cs"/>
              </a:rPr>
              <a:t> "Rendering Outdoor Light Scattering in Real Time." http://www2.ati.com/developer/gdc/GDC02_HoffmanPreetham.pdf.</a:t>
            </a:r>
          </a:p>
          <a:p>
            <a:endParaRPr lang="en-US" dirty="0"/>
          </a:p>
        </p:txBody>
      </p:sp>
      <p:sp>
        <p:nvSpPr>
          <p:cNvPr id="4" name="Slide Number Placeholder 3"/>
          <p:cNvSpPr>
            <a:spLocks noGrp="1"/>
          </p:cNvSpPr>
          <p:nvPr>
            <p:ph type="sldNum" sz="quarter" idx="10"/>
          </p:nvPr>
        </p:nvSpPr>
        <p:spPr/>
        <p:txBody>
          <a:bodyPr/>
          <a:lstStyle/>
          <a:p>
            <a:fld id="{46E3BF9B-D0A4-40C6-92AA-E5E674BCFAD4}" type="slidenum">
              <a:rPr lang="en-US" smtClean="0"/>
              <a:t>3</a:t>
            </a:fld>
            <a:endParaRPr lang="en-US"/>
          </a:p>
        </p:txBody>
      </p:sp>
    </p:spTree>
    <p:extLst>
      <p:ext uri="{BB962C8B-B14F-4D97-AF65-F5344CB8AC3E}">
        <p14:creationId xmlns:p14="http://schemas.microsoft.com/office/powerpoint/2010/main" val="2408011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Preetham, A. J., and N. Hoffman. </a:t>
            </a:r>
            <a:r>
              <a:rPr lang="en-US" sz="1200" kern="1200" dirty="0" err="1" smtClean="0">
                <a:solidFill>
                  <a:schemeClr val="tx1"/>
                </a:solidFill>
                <a:effectLst/>
                <a:latin typeface="+mn-lt"/>
                <a:ea typeface="+mn-ea"/>
                <a:cs typeface="+mn-cs"/>
              </a:rPr>
              <a:t>n.d.</a:t>
            </a:r>
            <a:r>
              <a:rPr lang="en-US" sz="1200" kern="1200" dirty="0" smtClean="0">
                <a:solidFill>
                  <a:schemeClr val="tx1"/>
                </a:solidFill>
                <a:effectLst/>
                <a:latin typeface="+mn-lt"/>
                <a:ea typeface="+mn-ea"/>
                <a:cs typeface="+mn-cs"/>
              </a:rPr>
              <a:t> "Rendering Outdoor Light Scattering in Real Time." http://www2.ati.com/developer/gdc/GDC02_HoffmanPreetham.pdf.</a:t>
            </a:r>
          </a:p>
          <a:p>
            <a:endParaRPr lang="en-US" dirty="0"/>
          </a:p>
        </p:txBody>
      </p:sp>
      <p:sp>
        <p:nvSpPr>
          <p:cNvPr id="4" name="Slide Number Placeholder 3"/>
          <p:cNvSpPr>
            <a:spLocks noGrp="1"/>
          </p:cNvSpPr>
          <p:nvPr>
            <p:ph type="sldNum" sz="quarter" idx="10"/>
          </p:nvPr>
        </p:nvSpPr>
        <p:spPr/>
        <p:txBody>
          <a:bodyPr/>
          <a:lstStyle/>
          <a:p>
            <a:fld id="{46E3BF9B-D0A4-40C6-92AA-E5E674BCFAD4}" type="slidenum">
              <a:rPr lang="en-US" smtClean="0"/>
              <a:t>4</a:t>
            </a:fld>
            <a:endParaRPr lang="en-US"/>
          </a:p>
        </p:txBody>
      </p:sp>
    </p:spTree>
    <p:extLst>
      <p:ext uri="{BB962C8B-B14F-4D97-AF65-F5344CB8AC3E}">
        <p14:creationId xmlns:p14="http://schemas.microsoft.com/office/powerpoint/2010/main" val="2584285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Wallner, Simon. </a:t>
            </a:r>
            <a:r>
              <a:rPr lang="en-US" sz="1200" kern="1200" dirty="0" err="1" smtClean="0">
                <a:solidFill>
                  <a:schemeClr val="tx1"/>
                </a:solidFill>
                <a:effectLst/>
                <a:latin typeface="+mn-lt"/>
                <a:ea typeface="+mn-ea"/>
                <a:cs typeface="+mn-cs"/>
              </a:rPr>
              <a:t>n.d.</a:t>
            </a:r>
            <a:r>
              <a:rPr lang="en-US" sz="1200" kern="1200" dirty="0" smtClean="0">
                <a:solidFill>
                  <a:schemeClr val="tx1"/>
                </a:solidFill>
                <a:effectLst/>
                <a:latin typeface="+mn-lt"/>
                <a:ea typeface="+mn-ea"/>
                <a:cs typeface="+mn-cs"/>
              </a:rPr>
              <a:t> </a:t>
            </a:r>
            <a:r>
              <a:rPr lang="en-US" sz="1200" i="1" kern="1200" dirty="0" smtClean="0">
                <a:solidFill>
                  <a:schemeClr val="tx1"/>
                </a:solidFill>
                <a:effectLst/>
                <a:latin typeface="+mn-lt"/>
                <a:ea typeface="+mn-ea"/>
                <a:cs typeface="+mn-cs"/>
              </a:rPr>
              <a:t>Atmospheric Scattering.</a:t>
            </a:r>
            <a:r>
              <a:rPr lang="en-US" sz="1200" kern="1200" dirty="0" smtClean="0">
                <a:solidFill>
                  <a:schemeClr val="tx1"/>
                </a:solidFill>
                <a:effectLst/>
                <a:latin typeface="+mn-lt"/>
                <a:ea typeface="+mn-ea"/>
                <a:cs typeface="+mn-cs"/>
              </a:rPr>
              <a:t> http://www.simonwallner.at/projects/atmospheric-scattering.</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Koo, Joshua. </a:t>
            </a:r>
            <a:r>
              <a:rPr lang="en-US" sz="1200" kern="1200" dirty="0" err="1" smtClean="0">
                <a:solidFill>
                  <a:schemeClr val="tx1"/>
                </a:solidFill>
                <a:effectLst/>
                <a:latin typeface="+mn-lt"/>
                <a:ea typeface="+mn-ea"/>
                <a:cs typeface="+mn-cs"/>
              </a:rPr>
              <a:t>n.d.</a:t>
            </a:r>
            <a:r>
              <a:rPr lang="en-US" sz="1200" kern="1200" dirty="0" smtClean="0">
                <a:solidFill>
                  <a:schemeClr val="tx1"/>
                </a:solidFill>
                <a:effectLst/>
                <a:latin typeface="+mn-lt"/>
                <a:ea typeface="+mn-ea"/>
                <a:cs typeface="+mn-cs"/>
              </a:rPr>
              <a:t> </a:t>
            </a:r>
            <a:r>
              <a:rPr lang="en-US" sz="1200" i="1" kern="1200" dirty="0" smtClean="0">
                <a:solidFill>
                  <a:schemeClr val="tx1"/>
                </a:solidFill>
                <a:effectLst/>
                <a:latin typeface="+mn-lt"/>
                <a:ea typeface="+mn-ea"/>
                <a:cs typeface="+mn-cs"/>
              </a:rPr>
              <a:t>Sun Sky Shader.</a:t>
            </a:r>
            <a:r>
              <a:rPr lang="en-US" sz="1200" kern="1200" dirty="0" smtClean="0">
                <a:solidFill>
                  <a:schemeClr val="tx1"/>
                </a:solidFill>
                <a:effectLst/>
                <a:latin typeface="+mn-lt"/>
                <a:ea typeface="+mn-ea"/>
                <a:cs typeface="+mn-cs"/>
              </a:rPr>
              <a:t> http://threejs.org/examples/#webgl_shaders_sky.</a:t>
            </a:r>
          </a:p>
          <a:p>
            <a:endParaRPr lang="en-US" dirty="0"/>
          </a:p>
        </p:txBody>
      </p:sp>
      <p:sp>
        <p:nvSpPr>
          <p:cNvPr id="4" name="Slide Number Placeholder 3"/>
          <p:cNvSpPr>
            <a:spLocks noGrp="1"/>
          </p:cNvSpPr>
          <p:nvPr>
            <p:ph type="sldNum" sz="quarter" idx="10"/>
          </p:nvPr>
        </p:nvSpPr>
        <p:spPr/>
        <p:txBody>
          <a:bodyPr/>
          <a:lstStyle/>
          <a:p>
            <a:fld id="{46E3BF9B-D0A4-40C6-92AA-E5E674BCFAD4}" type="slidenum">
              <a:rPr lang="en-US" smtClean="0"/>
              <a:t>5</a:t>
            </a:fld>
            <a:endParaRPr lang="en-US"/>
          </a:p>
        </p:txBody>
      </p:sp>
    </p:spTree>
    <p:extLst>
      <p:ext uri="{BB962C8B-B14F-4D97-AF65-F5344CB8AC3E}">
        <p14:creationId xmlns:p14="http://schemas.microsoft.com/office/powerpoint/2010/main" val="3381633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Let’s begin with turbidity and the different values for the parameter. The turbidity values, as explained in the introduction, describe how many haze particles are in the atmosphere. This makes sense because, as we can see above, increasing the ratio of haze particles shifts the skies hues toward red and, as we see in Figure </a:t>
            </a:r>
            <a:r>
              <a:rPr lang="en-US" dirty="0" smtClean="0">
                <a:effectLst/>
              </a:rPr>
              <a:t>5, </a:t>
            </a:r>
            <a:r>
              <a:rPr lang="en-US" dirty="0" smtClean="0">
                <a:effectLst/>
              </a:rPr>
              <a:t>the sky is nearly without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The Rayleigh coefficient is also examined visually with Figures </a:t>
            </a:r>
            <a:r>
              <a:rPr lang="en-US" dirty="0" smtClean="0">
                <a:effectLst/>
              </a:rPr>
              <a:t>6 </a:t>
            </a:r>
            <a:r>
              <a:rPr lang="en-US" dirty="0" smtClean="0">
                <a:effectLst/>
              </a:rPr>
              <a:t>– </a:t>
            </a:r>
            <a:r>
              <a:rPr lang="en-US" dirty="0" smtClean="0">
                <a:effectLst/>
              </a:rPr>
              <a:t>9 </a:t>
            </a:r>
            <a:r>
              <a:rPr lang="en-US" dirty="0" smtClean="0">
                <a:effectLst/>
              </a:rPr>
              <a:t>and, as expected, is also responsible for adding reds along with oranges and yellows.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The Mie coefficient also has a similar effect on the color, but it additionally provides the illumination/embodiment of the sun as shown in Figures </a:t>
            </a:r>
            <a:r>
              <a:rPr lang="en-US" dirty="0" smtClean="0">
                <a:effectLst/>
              </a:rPr>
              <a:t>10 </a:t>
            </a:r>
            <a:r>
              <a:rPr lang="en-US" dirty="0" smtClean="0">
                <a:effectLst/>
              </a:rPr>
              <a:t>– </a:t>
            </a:r>
            <a:r>
              <a:rPr lang="en-US" dirty="0" smtClean="0">
                <a:effectLst/>
              </a:rPr>
              <a:t>13. </a:t>
            </a:r>
            <a:endParaRPr lang="en-US" dirty="0"/>
          </a:p>
        </p:txBody>
      </p:sp>
      <p:sp>
        <p:nvSpPr>
          <p:cNvPr id="4" name="Slide Number Placeholder 3"/>
          <p:cNvSpPr>
            <a:spLocks noGrp="1"/>
          </p:cNvSpPr>
          <p:nvPr>
            <p:ph type="sldNum" sz="quarter" idx="10"/>
          </p:nvPr>
        </p:nvSpPr>
        <p:spPr/>
        <p:txBody>
          <a:bodyPr/>
          <a:lstStyle/>
          <a:p>
            <a:fld id="{46E3BF9B-D0A4-40C6-92AA-E5E674BCFAD4}" type="slidenum">
              <a:rPr lang="en-US" smtClean="0"/>
              <a:t>8</a:t>
            </a:fld>
            <a:endParaRPr lang="en-US"/>
          </a:p>
        </p:txBody>
      </p:sp>
    </p:spTree>
    <p:extLst>
      <p:ext uri="{BB962C8B-B14F-4D97-AF65-F5344CB8AC3E}">
        <p14:creationId xmlns:p14="http://schemas.microsoft.com/office/powerpoint/2010/main" val="1795047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The Mie directional G values do not contribute to the red colors, but it does help define the illumination and irradiance of the sun as seen in Figures </a:t>
            </a:r>
            <a:r>
              <a:rPr lang="en-US" dirty="0" smtClean="0">
                <a:effectLst/>
              </a:rPr>
              <a:t>14 </a:t>
            </a:r>
            <a:r>
              <a:rPr lang="en-US" dirty="0" smtClean="0">
                <a:effectLst/>
              </a:rPr>
              <a:t>– </a:t>
            </a:r>
            <a:r>
              <a:rPr lang="en-US" dirty="0" smtClean="0">
                <a:effectLst/>
              </a:rPr>
              <a:t>17</a:t>
            </a:r>
            <a:r>
              <a:rPr lang="en-US" dirty="0" smtClean="0">
                <a:effectLst/>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The luminance values alter the HDR rendering that Koo added to the shader. Without it, as we see in Figure </a:t>
            </a:r>
            <a:r>
              <a:rPr lang="en-US" dirty="0" smtClean="0">
                <a:effectLst/>
              </a:rPr>
              <a:t>18, </a:t>
            </a:r>
            <a:r>
              <a:rPr lang="en-US" dirty="0" smtClean="0">
                <a:effectLst/>
              </a:rPr>
              <a:t>none of the light will scatter and all will be absorbed. In general, we see that luminance helps with the white-balancing of the scene.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Finally, the inclination alters the position (or time, if you will) of the scene, and, at least in this shader, can only be modified when the speed is equal to “Stopped”. As expected, yellows, oranges, and reds appear when the sun is on the horizon due to Rayleigh scattering, and the light shifts toward blue as the sun rises for the same reason.</a:t>
            </a:r>
          </a:p>
          <a:p>
            <a:endParaRPr lang="en-US" dirty="0"/>
          </a:p>
        </p:txBody>
      </p:sp>
      <p:sp>
        <p:nvSpPr>
          <p:cNvPr id="4" name="Slide Number Placeholder 3"/>
          <p:cNvSpPr>
            <a:spLocks noGrp="1"/>
          </p:cNvSpPr>
          <p:nvPr>
            <p:ph type="sldNum" sz="quarter" idx="10"/>
          </p:nvPr>
        </p:nvSpPr>
        <p:spPr/>
        <p:txBody>
          <a:bodyPr/>
          <a:lstStyle/>
          <a:p>
            <a:fld id="{46E3BF9B-D0A4-40C6-92AA-E5E674BCFAD4}" type="slidenum">
              <a:rPr lang="en-US" smtClean="0"/>
              <a:t>9</a:t>
            </a:fld>
            <a:endParaRPr lang="en-US"/>
          </a:p>
        </p:txBody>
      </p:sp>
    </p:spTree>
    <p:extLst>
      <p:ext uri="{BB962C8B-B14F-4D97-AF65-F5344CB8AC3E}">
        <p14:creationId xmlns:p14="http://schemas.microsoft.com/office/powerpoint/2010/main" val="4276946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12/1/2014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12/1/2014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12/1/2014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12/1/2014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12/1/2014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12/1/2014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12/1/2014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12/1/2014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hyperlink" Target="http://www.simonwallner.at/projects/atmospheric-scatterin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threejs.org/examples/#webgl_shaders_sky"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10.xml.rels><?xml version="1.0" encoding="UTF-8" standalone="yes"?>
<Relationships xmlns="http://schemas.openxmlformats.org/package/2006/relationships"><Relationship Id="rId2" Type="http://schemas.openxmlformats.org/officeDocument/2006/relationships/hyperlink" Target="http://threejs.org/examples/#webgl_shaders_sky"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1"/>
            <a:ext cx="9833748" cy="3329580"/>
          </a:xfrm>
        </p:spPr>
        <p:txBody>
          <a:bodyPr/>
          <a:lstStyle/>
          <a:p>
            <a:r>
              <a:rPr lang="en-US" dirty="0" smtClean="0"/>
              <a:t>Atmospheric Scattering in Three JS</a:t>
            </a:r>
            <a:endParaRPr lang="en-US" dirty="0"/>
          </a:p>
        </p:txBody>
      </p:sp>
      <p:sp>
        <p:nvSpPr>
          <p:cNvPr id="3" name="Subtitle 2"/>
          <p:cNvSpPr>
            <a:spLocks noGrp="1"/>
          </p:cNvSpPr>
          <p:nvPr>
            <p:ph type="subTitle" idx="1"/>
          </p:nvPr>
        </p:nvSpPr>
        <p:spPr>
          <a:xfrm>
            <a:off x="1154955" y="4777380"/>
            <a:ext cx="9833748" cy="861420"/>
          </a:xfrm>
        </p:spPr>
        <p:txBody>
          <a:bodyPr/>
          <a:lstStyle/>
          <a:p>
            <a:r>
              <a:rPr lang="en-US" dirty="0" smtClean="0"/>
              <a:t>Angela Gross // CSCI-441</a:t>
            </a:r>
            <a:endParaRPr lang="en-US" dirty="0"/>
          </a:p>
        </p:txBody>
      </p:sp>
    </p:spTree>
    <p:extLst>
      <p:ext uri="{BB962C8B-B14F-4D97-AF65-F5344CB8AC3E}">
        <p14:creationId xmlns:p14="http://schemas.microsoft.com/office/powerpoint/2010/main" val="2638454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Rayleigh and Mie Scattering</a:t>
            </a:r>
            <a:endParaRPr lang="en-US" dirty="0"/>
          </a:p>
        </p:txBody>
      </p:sp>
      <p:sp>
        <p:nvSpPr>
          <p:cNvPr id="3" name="Content Placeholder 2"/>
          <p:cNvSpPr>
            <a:spLocks noGrp="1"/>
          </p:cNvSpPr>
          <p:nvPr>
            <p:ph idx="1"/>
          </p:nvPr>
        </p:nvSpPr>
        <p:spPr>
          <a:xfrm>
            <a:off x="1104293" y="1853248"/>
            <a:ext cx="8946541" cy="4195481"/>
          </a:xfrm>
        </p:spPr>
        <p:txBody>
          <a:bodyPr/>
          <a:lstStyle/>
          <a:p>
            <a:r>
              <a:rPr lang="en-US" dirty="0" smtClean="0"/>
              <a:t>Rayleigh Scattering</a:t>
            </a:r>
          </a:p>
          <a:p>
            <a:pPr lvl="1"/>
            <a:r>
              <a:rPr lang="en-US" dirty="0" smtClean="0"/>
              <a:t>Air molecules scattering light</a:t>
            </a:r>
          </a:p>
          <a:p>
            <a:pPr lvl="1"/>
            <a:r>
              <a:rPr lang="en-US" dirty="0" smtClean="0"/>
              <a:t>Responsible for blue skies and the red-oranges in sunsets</a:t>
            </a:r>
          </a:p>
          <a:p>
            <a:pPr marL="457200" lvl="1" indent="0">
              <a:buNone/>
            </a:pPr>
            <a:endParaRPr lang="en-US" dirty="0" smtClean="0"/>
          </a:p>
          <a:p>
            <a:r>
              <a:rPr lang="en-US" dirty="0" smtClean="0"/>
              <a:t>Mie Scattering</a:t>
            </a:r>
          </a:p>
          <a:p>
            <a:pPr lvl="1"/>
            <a:r>
              <a:rPr lang="en-US" dirty="0" smtClean="0"/>
              <a:t>“Haze particles” scattering light</a:t>
            </a:r>
          </a:p>
          <a:p>
            <a:pPr lvl="1"/>
            <a:r>
              <a:rPr lang="en-US" dirty="0" smtClean="0"/>
              <a:t>Responsible for the whitening of the </a:t>
            </a:r>
            <a:r>
              <a:rPr lang="en-US" dirty="0" smtClean="0"/>
              <a:t>sky</a:t>
            </a:r>
          </a:p>
          <a:p>
            <a:pPr lvl="1"/>
            <a:r>
              <a:rPr lang="en-US" dirty="0" smtClean="0"/>
              <a:t>Turbidity used to describe Mie numerically</a:t>
            </a:r>
            <a:endParaRPr lang="en-US" dirty="0" smtClean="0"/>
          </a:p>
          <a:p>
            <a:pPr lvl="1"/>
            <a:endParaRPr lang="en-US" dirty="0" smtClean="0"/>
          </a:p>
        </p:txBody>
      </p:sp>
    </p:spTree>
    <p:extLst>
      <p:ext uri="{BB962C8B-B14F-4D97-AF65-F5344CB8AC3E}">
        <p14:creationId xmlns:p14="http://schemas.microsoft.com/office/powerpoint/2010/main" val="3089448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972" y="350705"/>
            <a:ext cx="9404723" cy="1400530"/>
          </a:xfrm>
        </p:spPr>
        <p:txBody>
          <a:bodyPr/>
          <a:lstStyle/>
          <a:p>
            <a:r>
              <a:rPr lang="en-US" dirty="0" smtClean="0"/>
              <a:t>Relevant Formulas</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911789" y="2971312"/>
                <a:ext cx="2883610" cy="6505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m:rPr>
                              <m:sty m:val="p"/>
                            </m:rPr>
                            <a:rPr lang="en-US" sz="1600">
                              <a:latin typeface="Cambria Math" panose="02040503050406030204" pitchFamily="18" charset="0"/>
                            </a:rPr>
                            <m:t>Β</m:t>
                          </m:r>
                        </m:e>
                        <m:sub>
                          <m:r>
                            <a:rPr lang="en-US" sz="1600" i="1">
                              <a:latin typeface="Cambria Math" panose="02040503050406030204" pitchFamily="18" charset="0"/>
                            </a:rPr>
                            <m:t>𝑅</m:t>
                          </m:r>
                        </m:sub>
                      </m:sSub>
                      <m:r>
                        <a:rPr lang="en-US" sz="1600" i="0">
                          <a:latin typeface="Cambria Math" panose="02040503050406030204" pitchFamily="18" charset="0"/>
                        </a:rPr>
                        <m:t>=</m:t>
                      </m:r>
                      <m:f>
                        <m:fPr>
                          <m:ctrlPr>
                            <a:rPr lang="en-US" sz="1600" i="1">
                              <a:latin typeface="Cambria Math" panose="02040503050406030204" pitchFamily="18" charset="0"/>
                            </a:rPr>
                          </m:ctrlPr>
                        </m:fPr>
                        <m:num>
                          <m:r>
                            <a:rPr lang="en-US" sz="1600" i="0">
                              <a:latin typeface="Cambria Math" panose="02040503050406030204" pitchFamily="18" charset="0"/>
                            </a:rPr>
                            <m:t>8</m:t>
                          </m:r>
                          <m:sSup>
                            <m:sSupPr>
                              <m:ctrlPr>
                                <a:rPr lang="en-US" sz="1600" i="1">
                                  <a:latin typeface="Cambria Math" panose="02040503050406030204" pitchFamily="18" charset="0"/>
                                </a:rPr>
                              </m:ctrlPr>
                            </m:sSupPr>
                            <m:e>
                              <m:r>
                                <a:rPr lang="en-US" sz="1600" i="1">
                                  <a:latin typeface="Cambria Math" panose="02040503050406030204" pitchFamily="18" charset="0"/>
                                </a:rPr>
                                <m:t>𝜋</m:t>
                              </m:r>
                            </m:e>
                            <m:sup>
                              <m:r>
                                <a:rPr lang="en-US" sz="1600" i="0">
                                  <a:latin typeface="Cambria Math" panose="02040503050406030204" pitchFamily="18" charset="0"/>
                                </a:rPr>
                                <m:t>3</m:t>
                              </m:r>
                            </m:sup>
                          </m:sSup>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𝑛</m:t>
                                      </m:r>
                                    </m:e>
                                    <m:sup>
                                      <m:r>
                                        <a:rPr lang="en-US" sz="1600" i="0">
                                          <a:latin typeface="Cambria Math" panose="02040503050406030204" pitchFamily="18" charset="0"/>
                                        </a:rPr>
                                        <m:t>2</m:t>
                                      </m:r>
                                    </m:sup>
                                  </m:sSup>
                                  <m:r>
                                    <a:rPr lang="en-US" sz="1600" i="0">
                                      <a:latin typeface="Cambria Math" panose="02040503050406030204" pitchFamily="18" charset="0"/>
                                    </a:rPr>
                                    <m:t>−1</m:t>
                                  </m:r>
                                </m:e>
                              </m:d>
                            </m:e>
                            <m:sup>
                              <m:r>
                                <a:rPr lang="en-US" sz="1600" i="0">
                                  <a:latin typeface="Cambria Math" panose="02040503050406030204" pitchFamily="18" charset="0"/>
                                </a:rPr>
                                <m:t>2</m:t>
                              </m:r>
                            </m:sup>
                          </m:sSup>
                        </m:num>
                        <m:den>
                          <m:r>
                            <a:rPr lang="en-US" sz="1600" i="0">
                              <a:latin typeface="Cambria Math" panose="02040503050406030204" pitchFamily="18" charset="0"/>
                            </a:rPr>
                            <m:t>3</m:t>
                          </m:r>
                          <m:r>
                            <a:rPr lang="en-US" sz="1600" i="1">
                              <a:latin typeface="Cambria Math" panose="02040503050406030204" pitchFamily="18" charset="0"/>
                            </a:rPr>
                            <m:t>𝑁</m:t>
                          </m:r>
                          <m:sSup>
                            <m:sSupPr>
                              <m:ctrlPr>
                                <a:rPr lang="en-US" sz="1600" i="1">
                                  <a:latin typeface="Cambria Math" panose="02040503050406030204" pitchFamily="18" charset="0"/>
                                </a:rPr>
                              </m:ctrlPr>
                            </m:sSupPr>
                            <m:e>
                              <m:r>
                                <a:rPr lang="en-US" sz="1600" i="1">
                                  <a:latin typeface="Cambria Math" panose="02040503050406030204" pitchFamily="18" charset="0"/>
                                </a:rPr>
                                <m:t>𝜆</m:t>
                              </m:r>
                            </m:e>
                            <m:sup>
                              <m:r>
                                <a:rPr lang="en-US" sz="1600" i="0">
                                  <a:latin typeface="Cambria Math" panose="02040503050406030204" pitchFamily="18" charset="0"/>
                                </a:rPr>
                                <m:t>4</m:t>
                              </m:r>
                            </m:sup>
                          </m:sSup>
                        </m:den>
                      </m:f>
                      <m:d>
                        <m:dPr>
                          <m:ctrlPr>
                            <a:rPr lang="en-US" sz="1600" i="1">
                              <a:latin typeface="Cambria Math" panose="02040503050406030204" pitchFamily="18" charset="0"/>
                            </a:rPr>
                          </m:ctrlPr>
                        </m:dPr>
                        <m:e>
                          <m:f>
                            <m:fPr>
                              <m:ctrlPr>
                                <a:rPr lang="en-US" sz="1600" i="1">
                                  <a:latin typeface="Cambria Math" panose="02040503050406030204" pitchFamily="18" charset="0"/>
                                </a:rPr>
                              </m:ctrlPr>
                            </m:fPr>
                            <m:num>
                              <m:r>
                                <a:rPr lang="en-US" sz="1600" i="0">
                                  <a:latin typeface="Cambria Math" panose="02040503050406030204" pitchFamily="18" charset="0"/>
                                </a:rPr>
                                <m:t>6+3</m:t>
                              </m:r>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𝑛</m:t>
                                  </m:r>
                                </m:sub>
                              </m:sSub>
                            </m:num>
                            <m:den>
                              <m:r>
                                <a:rPr lang="en-US" sz="1600" i="0">
                                  <a:latin typeface="Cambria Math" panose="02040503050406030204" pitchFamily="18" charset="0"/>
                                </a:rPr>
                                <m:t>6−7</m:t>
                              </m:r>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𝑛</m:t>
                                  </m:r>
                                </m:sub>
                              </m:sSub>
                            </m:den>
                          </m:f>
                        </m:e>
                      </m:d>
                    </m:oMath>
                  </m:oMathPara>
                </a14:m>
                <a:endParaRPr lang="en-US" sz="1600" dirty="0"/>
              </a:p>
            </p:txBody>
          </p:sp>
        </mc:Choice>
        <mc:Fallback xmlns="">
          <p:sp>
            <p:nvSpPr>
              <p:cNvPr id="4" name="Rectangle 3"/>
              <p:cNvSpPr>
                <a:spLocks noRot="1" noChangeAspect="1" noMove="1" noResize="1" noEditPoints="1" noAdjustHandles="1" noChangeArrowheads="1" noChangeShapeType="1" noTextEdit="1"/>
              </p:cNvSpPr>
              <p:nvPr/>
            </p:nvSpPr>
            <p:spPr>
              <a:xfrm>
                <a:off x="911789" y="2971312"/>
                <a:ext cx="2883610" cy="65056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911789" y="3625544"/>
                <a:ext cx="2480679" cy="6941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m:rPr>
                              <m:sty m:val="p"/>
                            </m:rPr>
                            <a:rPr lang="en-US" sz="1600">
                              <a:latin typeface="Cambria Math" panose="02040503050406030204" pitchFamily="18" charset="0"/>
                            </a:rPr>
                            <m:t>Β</m:t>
                          </m:r>
                        </m:e>
                        <m:sub>
                          <m:r>
                            <a:rPr lang="en-US" sz="1600" i="1">
                              <a:latin typeface="Cambria Math" panose="02040503050406030204" pitchFamily="18" charset="0"/>
                            </a:rPr>
                            <m:t>𝑀</m:t>
                          </m:r>
                        </m:sub>
                      </m:sSub>
                      <m:r>
                        <a:rPr lang="en-US" sz="1600" i="0">
                          <a:latin typeface="Cambria Math" panose="02040503050406030204" pitchFamily="18" charset="0"/>
                        </a:rPr>
                        <m:t>=0.434</m:t>
                      </m:r>
                      <m:r>
                        <a:rPr lang="en-US" sz="1600" i="1">
                          <a:latin typeface="Cambria Math" panose="02040503050406030204" pitchFamily="18" charset="0"/>
                        </a:rPr>
                        <m:t>𝑐</m:t>
                      </m:r>
                      <m:r>
                        <a:rPr lang="en-US" sz="1600" i="1">
                          <a:latin typeface="Cambria Math" panose="02040503050406030204" pitchFamily="18" charset="0"/>
                        </a:rPr>
                        <m:t>𝜋</m:t>
                      </m:r>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f>
                                <m:fPr>
                                  <m:ctrlPr>
                                    <a:rPr lang="en-US" sz="1600" i="1">
                                      <a:latin typeface="Cambria Math" panose="02040503050406030204" pitchFamily="18" charset="0"/>
                                    </a:rPr>
                                  </m:ctrlPr>
                                </m:fPr>
                                <m:num>
                                  <m:r>
                                    <a:rPr lang="en-US" sz="1600" i="0">
                                      <a:latin typeface="Cambria Math" panose="02040503050406030204" pitchFamily="18" charset="0"/>
                                    </a:rPr>
                                    <m:t>2</m:t>
                                  </m:r>
                                  <m:r>
                                    <a:rPr lang="en-US" sz="1600" i="1">
                                      <a:latin typeface="Cambria Math" panose="02040503050406030204" pitchFamily="18" charset="0"/>
                                    </a:rPr>
                                    <m:t>𝜋</m:t>
                                  </m:r>
                                </m:num>
                                <m:den>
                                  <m:r>
                                    <a:rPr lang="en-US" sz="1600" i="1">
                                      <a:latin typeface="Cambria Math" panose="02040503050406030204" pitchFamily="18" charset="0"/>
                                    </a:rPr>
                                    <m:t>𝜆</m:t>
                                  </m:r>
                                </m:den>
                              </m:f>
                            </m:e>
                          </m:d>
                        </m:e>
                        <m:sup>
                          <m:r>
                            <a:rPr lang="en-US" sz="1600" i="1">
                              <a:latin typeface="Cambria Math" panose="02040503050406030204" pitchFamily="18" charset="0"/>
                            </a:rPr>
                            <m:t>𝑣</m:t>
                          </m:r>
                          <m:r>
                            <a:rPr lang="en-US" sz="1600" i="0">
                              <a:latin typeface="Cambria Math" panose="02040503050406030204" pitchFamily="18" charset="0"/>
                            </a:rPr>
                            <m:t>−2</m:t>
                          </m:r>
                        </m:sup>
                      </m:sSup>
                      <m:r>
                        <a:rPr lang="en-US" sz="1600" i="1">
                          <a:latin typeface="Cambria Math" panose="02040503050406030204" pitchFamily="18" charset="0"/>
                        </a:rPr>
                        <m:t>𝐾</m:t>
                      </m:r>
                    </m:oMath>
                  </m:oMathPara>
                </a14:m>
                <a:endParaRPr lang="en-US" sz="1600" dirty="0"/>
              </a:p>
            </p:txBody>
          </p:sp>
        </mc:Choice>
        <mc:Fallback xmlns="">
          <p:sp>
            <p:nvSpPr>
              <p:cNvPr id="5" name="Rectangle 4"/>
              <p:cNvSpPr>
                <a:spLocks noRot="1" noChangeAspect="1" noMove="1" noResize="1" noEditPoints="1" noAdjustHandles="1" noChangeArrowheads="1" noChangeShapeType="1" noTextEdit="1"/>
              </p:cNvSpPr>
              <p:nvPr/>
            </p:nvSpPr>
            <p:spPr>
              <a:xfrm>
                <a:off x="911789" y="3625544"/>
                <a:ext cx="2480679" cy="694164"/>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856518" y="4390628"/>
                <a:ext cx="312829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𝑐</m:t>
                      </m:r>
                      <m:r>
                        <a:rPr lang="en-US" sz="1600" i="0">
                          <a:latin typeface="Cambria Math" panose="02040503050406030204" pitchFamily="18" charset="0"/>
                        </a:rPr>
                        <m:t>=</m:t>
                      </m:r>
                      <m:d>
                        <m:dPr>
                          <m:ctrlPr>
                            <a:rPr lang="en-US" sz="1600" i="1">
                              <a:latin typeface="Cambria Math" panose="02040503050406030204" pitchFamily="18" charset="0"/>
                            </a:rPr>
                          </m:ctrlPr>
                        </m:dPr>
                        <m:e>
                          <m:r>
                            <a:rPr lang="en-US" sz="1600" i="0">
                              <a:latin typeface="Cambria Math" panose="02040503050406030204" pitchFamily="18" charset="0"/>
                            </a:rPr>
                            <m:t>0.6544</m:t>
                          </m:r>
                          <m:r>
                            <a:rPr lang="en-US" sz="1600" i="1">
                              <a:latin typeface="Cambria Math" panose="02040503050406030204" pitchFamily="18" charset="0"/>
                            </a:rPr>
                            <m:t>𝑇</m:t>
                          </m:r>
                          <m:r>
                            <a:rPr lang="en-US" sz="1600" i="0">
                              <a:latin typeface="Cambria Math" panose="02040503050406030204" pitchFamily="18" charset="0"/>
                            </a:rPr>
                            <m:t>−0.6510</m:t>
                          </m:r>
                        </m:e>
                      </m:d>
                      <m:r>
                        <a:rPr lang="en-US" sz="1600" i="0">
                          <a:latin typeface="Cambria Math" panose="02040503050406030204" pitchFamily="18" charset="0"/>
                        </a:rPr>
                        <m:t>×</m:t>
                      </m:r>
                      <m:sSup>
                        <m:sSupPr>
                          <m:ctrlPr>
                            <a:rPr lang="en-US" sz="1600" i="1">
                              <a:latin typeface="Cambria Math" panose="02040503050406030204" pitchFamily="18" charset="0"/>
                            </a:rPr>
                          </m:ctrlPr>
                        </m:sSupPr>
                        <m:e>
                          <m:r>
                            <a:rPr lang="en-US" sz="1600" i="0">
                              <a:latin typeface="Cambria Math" panose="02040503050406030204" pitchFamily="18" charset="0"/>
                            </a:rPr>
                            <m:t>10</m:t>
                          </m:r>
                        </m:e>
                        <m:sup>
                          <m:r>
                            <a:rPr lang="en-US" sz="1600" i="0">
                              <a:latin typeface="Cambria Math" panose="02040503050406030204" pitchFamily="18" charset="0"/>
                            </a:rPr>
                            <m:t>−16</m:t>
                          </m:r>
                        </m:sup>
                      </m:sSup>
                    </m:oMath>
                  </m:oMathPara>
                </a14:m>
                <a:endParaRPr lang="en-US" sz="1600" dirty="0"/>
              </a:p>
            </p:txBody>
          </p:sp>
        </mc:Choice>
        <mc:Fallback xmlns="">
          <p:sp>
            <p:nvSpPr>
              <p:cNvPr id="6" name="Rectangle 5"/>
              <p:cNvSpPr>
                <a:spLocks noRot="1" noChangeAspect="1" noMove="1" noResize="1" noEditPoints="1" noAdjustHandles="1" noChangeArrowheads="1" noChangeShapeType="1" noTextEdit="1"/>
              </p:cNvSpPr>
              <p:nvPr/>
            </p:nvSpPr>
            <p:spPr>
              <a:xfrm>
                <a:off x="856518" y="4390628"/>
                <a:ext cx="3128292" cy="338554"/>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927711" y="2062656"/>
                <a:ext cx="1609480" cy="3429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𝐹</m:t>
                          </m:r>
                        </m:e>
                        <m:sub>
                          <m:r>
                            <a:rPr lang="en-US" sz="1600" i="1">
                              <a:latin typeface="Cambria Math" panose="02040503050406030204" pitchFamily="18" charset="0"/>
                            </a:rPr>
                            <m:t>𝑒𝑥</m:t>
                          </m:r>
                        </m:sub>
                      </m:sSub>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0">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𝑒</m:t>
                          </m:r>
                        </m:e>
                        <m:sup>
                          <m:r>
                            <a:rPr lang="en-US" sz="1600" i="0">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0">
                                  <a:latin typeface="Cambria Math" panose="02040503050406030204" pitchFamily="18" charset="0"/>
                                </a:rPr>
                                <m:t>Β</m:t>
                              </m:r>
                            </m:e>
                            <m:sub>
                              <m:r>
                                <a:rPr lang="en-US" sz="1600" i="1">
                                  <a:latin typeface="Cambria Math" panose="02040503050406030204" pitchFamily="18" charset="0"/>
                                </a:rPr>
                                <m:t>𝑒𝑥</m:t>
                              </m:r>
                            </m:sub>
                          </m:sSub>
                          <m:r>
                            <a:rPr lang="en-US" sz="1600" i="1">
                              <a:latin typeface="Cambria Math" panose="02040503050406030204" pitchFamily="18" charset="0"/>
                            </a:rPr>
                            <m:t>𝑠</m:t>
                          </m:r>
                        </m:sup>
                      </m:sSup>
                    </m:oMath>
                  </m:oMathPara>
                </a14:m>
                <a:endParaRPr lang="en-US" sz="1600" dirty="0"/>
              </a:p>
            </p:txBody>
          </p:sp>
        </mc:Choice>
        <mc:Fallback xmlns="">
          <p:sp>
            <p:nvSpPr>
              <p:cNvPr id="7" name="Rectangle 6"/>
              <p:cNvSpPr>
                <a:spLocks noRot="1" noChangeAspect="1" noMove="1" noResize="1" noEditPoints="1" noAdjustHandles="1" noChangeArrowheads="1" noChangeShapeType="1" noTextEdit="1"/>
              </p:cNvSpPr>
              <p:nvPr/>
            </p:nvSpPr>
            <p:spPr>
              <a:xfrm>
                <a:off x="927711" y="2062656"/>
                <a:ext cx="1609480" cy="342979"/>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946333" y="2535887"/>
                <a:ext cx="156696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m:rPr>
                              <m:sty m:val="p"/>
                            </m:rPr>
                            <a:rPr lang="en-US" sz="1600">
                              <a:latin typeface="Cambria Math" panose="02040503050406030204" pitchFamily="18" charset="0"/>
                            </a:rPr>
                            <m:t>Β</m:t>
                          </m:r>
                        </m:e>
                        <m:sub>
                          <m:r>
                            <a:rPr lang="en-US" sz="1600" i="1">
                              <a:latin typeface="Cambria Math" panose="02040503050406030204" pitchFamily="18" charset="0"/>
                            </a:rPr>
                            <m:t>𝑒𝑥</m:t>
                          </m:r>
                        </m:sub>
                      </m:sSub>
                      <m:r>
                        <a:rPr lang="en-US" sz="1600" i="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𝐵</m:t>
                          </m:r>
                        </m:e>
                        <m:sub>
                          <m:r>
                            <a:rPr lang="en-US" sz="1600" i="1">
                              <a:latin typeface="Cambria Math" panose="02040503050406030204" pitchFamily="18" charset="0"/>
                            </a:rPr>
                            <m:t>𝑅</m:t>
                          </m:r>
                        </m:sub>
                      </m:sSub>
                      <m:r>
                        <a:rPr lang="en-US" sz="1600" i="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𝐵</m:t>
                          </m:r>
                        </m:e>
                        <m:sub>
                          <m:r>
                            <a:rPr lang="en-US" sz="1600" i="1">
                              <a:latin typeface="Cambria Math" panose="02040503050406030204" pitchFamily="18" charset="0"/>
                            </a:rPr>
                            <m:t>𝑀</m:t>
                          </m:r>
                        </m:sub>
                      </m:sSub>
                    </m:oMath>
                  </m:oMathPara>
                </a14:m>
                <a:endParaRPr lang="en-US" sz="1600" dirty="0"/>
              </a:p>
            </p:txBody>
          </p:sp>
        </mc:Choice>
        <mc:Fallback xmlns="">
          <p:sp>
            <p:nvSpPr>
              <p:cNvPr id="8" name="Rectangle 7"/>
              <p:cNvSpPr>
                <a:spLocks noRot="1" noChangeAspect="1" noMove="1" noResize="1" noEditPoints="1" noAdjustHandles="1" noChangeArrowheads="1" noChangeShapeType="1" noTextEdit="1"/>
              </p:cNvSpPr>
              <p:nvPr/>
            </p:nvSpPr>
            <p:spPr>
              <a:xfrm>
                <a:off x="946333" y="2535887"/>
                <a:ext cx="1566967" cy="338554"/>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7155325" y="2027555"/>
                <a:ext cx="3378296" cy="6117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𝐿</m:t>
                          </m:r>
                        </m:e>
                        <m:sub>
                          <m:r>
                            <a:rPr lang="en-US" sz="1600" i="1">
                              <a:latin typeface="Cambria Math" panose="02040503050406030204" pitchFamily="18" charset="0"/>
                            </a:rPr>
                            <m:t>𝑖𝑛</m:t>
                          </m:r>
                        </m:sub>
                      </m:sSub>
                      <m:d>
                        <m:dPr>
                          <m:ctrlPr>
                            <a:rPr lang="en-US" sz="1600" i="1">
                              <a:latin typeface="Cambria Math" panose="02040503050406030204" pitchFamily="18" charset="0"/>
                            </a:rPr>
                          </m:ctrlPr>
                        </m:dPr>
                        <m:e>
                          <m:r>
                            <a:rPr lang="en-US" sz="1600" i="1">
                              <a:latin typeface="Cambria Math" panose="02040503050406030204" pitchFamily="18" charset="0"/>
                            </a:rPr>
                            <m:t>𝑠</m:t>
                          </m:r>
                          <m:r>
                            <a:rPr lang="en-US" sz="1600" i="0">
                              <a:latin typeface="Cambria Math" panose="02040503050406030204" pitchFamily="18" charset="0"/>
                            </a:rPr>
                            <m:t>,</m:t>
                          </m:r>
                          <m:r>
                            <a:rPr lang="en-US" sz="1600" i="1">
                              <a:latin typeface="Cambria Math" panose="02040503050406030204" pitchFamily="18" charset="0"/>
                            </a:rPr>
                            <m:t>𝜃</m:t>
                          </m:r>
                        </m:e>
                      </m:d>
                      <m:r>
                        <a:rPr lang="en-US" sz="1600" i="0">
                          <a:latin typeface="Cambria Math" panose="02040503050406030204" pitchFamily="18" charset="0"/>
                        </a:rPr>
                        <m:t>=</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m:rPr>
                                  <m:sty m:val="p"/>
                                </m:rPr>
                                <a:rPr lang="en-US" sz="1600" i="0">
                                  <a:latin typeface="Cambria Math" panose="02040503050406030204" pitchFamily="18" charset="0"/>
                                </a:rPr>
                                <m:t>Β</m:t>
                              </m:r>
                            </m:e>
                            <m:sub>
                              <m:r>
                                <a:rPr lang="en-US" sz="1600" i="1">
                                  <a:latin typeface="Cambria Math" panose="02040503050406030204" pitchFamily="18" charset="0"/>
                                </a:rPr>
                                <m:t>𝑠𝑐</m:t>
                              </m:r>
                            </m:sub>
                          </m:sSub>
                          <m:d>
                            <m:dPr>
                              <m:ctrlPr>
                                <a:rPr lang="en-US" sz="1600" i="1">
                                  <a:latin typeface="Cambria Math" panose="02040503050406030204" pitchFamily="18" charset="0"/>
                                </a:rPr>
                              </m:ctrlPr>
                            </m:dPr>
                            <m:e>
                              <m:r>
                                <a:rPr lang="en-US" sz="1600" i="1">
                                  <a:latin typeface="Cambria Math" panose="02040503050406030204" pitchFamily="18" charset="0"/>
                                </a:rPr>
                                <m:t>𝜃</m:t>
                              </m:r>
                            </m:e>
                          </m:d>
                        </m:num>
                        <m:den>
                          <m:sSub>
                            <m:sSubPr>
                              <m:ctrlPr>
                                <a:rPr lang="en-US" sz="1600" i="1">
                                  <a:latin typeface="Cambria Math" panose="02040503050406030204" pitchFamily="18" charset="0"/>
                                </a:rPr>
                              </m:ctrlPr>
                            </m:sSubPr>
                            <m:e>
                              <m:r>
                                <m:rPr>
                                  <m:sty m:val="p"/>
                                </m:rPr>
                                <a:rPr lang="en-US" sz="1600" i="0">
                                  <a:latin typeface="Cambria Math" panose="02040503050406030204" pitchFamily="18" charset="0"/>
                                </a:rPr>
                                <m:t>Β</m:t>
                              </m:r>
                            </m:e>
                            <m:sub>
                              <m:r>
                                <m:rPr>
                                  <m:sty m:val="p"/>
                                </m:rPr>
                                <a:rPr lang="en-US" sz="1600" i="0">
                                  <a:latin typeface="Cambria Math" panose="02040503050406030204" pitchFamily="18" charset="0"/>
                                </a:rPr>
                                <m:t>ex</m:t>
                              </m:r>
                            </m:sub>
                          </m:sSub>
                        </m:den>
                      </m:f>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i="1">
                              <a:latin typeface="Cambria Math" panose="02040503050406030204" pitchFamily="18" charset="0"/>
                            </a:rPr>
                            <m:t>𝑠𝑢𝑛</m:t>
                          </m:r>
                        </m:sub>
                      </m:sSub>
                      <m:d>
                        <m:dPr>
                          <m:ctrlPr>
                            <a:rPr lang="en-US" sz="1600" i="1">
                              <a:latin typeface="Cambria Math" panose="02040503050406030204" pitchFamily="18" charset="0"/>
                            </a:rPr>
                          </m:ctrlPr>
                        </m:dPr>
                        <m:e>
                          <m:r>
                            <a:rPr lang="en-US" sz="1600" i="0">
                              <a:latin typeface="Cambria Math" panose="02040503050406030204" pitchFamily="18" charset="0"/>
                            </a:rPr>
                            <m:t>1−</m:t>
                          </m:r>
                          <m:sSub>
                            <m:sSubPr>
                              <m:ctrlPr>
                                <a:rPr lang="en-US" sz="1600" i="1">
                                  <a:latin typeface="Cambria Math" panose="02040503050406030204" pitchFamily="18" charset="0"/>
                                </a:rPr>
                              </m:ctrlPr>
                            </m:sSubPr>
                            <m:e>
                              <m:r>
                                <a:rPr lang="en-US" sz="1600" i="1">
                                  <a:latin typeface="Cambria Math" panose="02040503050406030204" pitchFamily="18" charset="0"/>
                                </a:rPr>
                                <m:t>𝐹</m:t>
                              </m:r>
                            </m:e>
                            <m:sub>
                              <m:r>
                                <a:rPr lang="en-US" sz="1600" i="1">
                                  <a:latin typeface="Cambria Math" panose="02040503050406030204" pitchFamily="18" charset="0"/>
                                </a:rPr>
                                <m:t>𝑒𝑥</m:t>
                              </m:r>
                            </m:sub>
                          </m:sSub>
                          <m:d>
                            <m:dPr>
                              <m:ctrlPr>
                                <a:rPr lang="en-US" sz="1600" i="1">
                                  <a:latin typeface="Cambria Math" panose="02040503050406030204" pitchFamily="18" charset="0"/>
                                </a:rPr>
                              </m:ctrlPr>
                            </m:dPr>
                            <m:e>
                              <m:r>
                                <a:rPr lang="en-US" sz="1600" i="1">
                                  <a:latin typeface="Cambria Math" panose="02040503050406030204" pitchFamily="18" charset="0"/>
                                </a:rPr>
                                <m:t>𝑠</m:t>
                              </m:r>
                            </m:e>
                          </m:d>
                        </m:e>
                      </m:d>
                      <m:r>
                        <a:rPr lang="en-US" sz="1600" i="0">
                          <a:latin typeface="Cambria Math" panose="02040503050406030204" pitchFamily="18" charset="0"/>
                        </a:rPr>
                        <m:t> </m:t>
                      </m:r>
                    </m:oMath>
                  </m:oMathPara>
                </a14:m>
                <a:endParaRPr lang="en-US" sz="1600" dirty="0"/>
              </a:p>
            </p:txBody>
          </p:sp>
        </mc:Choice>
        <mc:Fallback xmlns="">
          <p:sp>
            <p:nvSpPr>
              <p:cNvPr id="9" name="Rectangle 8"/>
              <p:cNvSpPr>
                <a:spLocks noRot="1" noChangeAspect="1" noMove="1" noResize="1" noEditPoints="1" noAdjustHandles="1" noChangeArrowheads="1" noChangeShapeType="1" noTextEdit="1"/>
              </p:cNvSpPr>
              <p:nvPr/>
            </p:nvSpPr>
            <p:spPr>
              <a:xfrm>
                <a:off x="7155325" y="2027555"/>
                <a:ext cx="3378296" cy="611771"/>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7155325" y="3400031"/>
                <a:ext cx="2452851" cy="5549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𝑅</m:t>
                          </m:r>
                        </m:sub>
                      </m:sSub>
                      <m:d>
                        <m:dPr>
                          <m:ctrlPr>
                            <a:rPr lang="en-US" sz="1600" i="1">
                              <a:latin typeface="Cambria Math" panose="02040503050406030204" pitchFamily="18" charset="0"/>
                            </a:rPr>
                          </m:ctrlPr>
                        </m:dPr>
                        <m:e>
                          <m:r>
                            <a:rPr lang="en-US" sz="1600" i="1">
                              <a:latin typeface="Cambria Math" panose="02040503050406030204" pitchFamily="18" charset="0"/>
                            </a:rPr>
                            <m:t>𝜃</m:t>
                          </m:r>
                        </m:e>
                      </m:d>
                      <m:r>
                        <a:rPr lang="en-US" sz="1600" i="0">
                          <a:latin typeface="Cambria Math" panose="02040503050406030204" pitchFamily="18" charset="0"/>
                        </a:rPr>
                        <m:t>=</m:t>
                      </m:r>
                      <m:f>
                        <m:fPr>
                          <m:ctrlPr>
                            <a:rPr lang="en-US" sz="1600" i="1">
                              <a:latin typeface="Cambria Math" panose="02040503050406030204" pitchFamily="18" charset="0"/>
                            </a:rPr>
                          </m:ctrlPr>
                        </m:fPr>
                        <m:num>
                          <m:r>
                            <a:rPr lang="en-US" sz="1600" i="0">
                              <a:latin typeface="Cambria Math" panose="02040503050406030204" pitchFamily="18" charset="0"/>
                            </a:rPr>
                            <m:t>3</m:t>
                          </m:r>
                        </m:num>
                        <m:den>
                          <m:r>
                            <a:rPr lang="en-US" sz="1600" i="0">
                              <a:latin typeface="Cambria Math" panose="02040503050406030204" pitchFamily="18" charset="0"/>
                            </a:rPr>
                            <m:t>16</m:t>
                          </m:r>
                          <m:r>
                            <a:rPr lang="en-US" sz="1600" i="1">
                              <a:latin typeface="Cambria Math" panose="02040503050406030204" pitchFamily="18" charset="0"/>
                            </a:rPr>
                            <m:t>𝜋</m:t>
                          </m:r>
                        </m:den>
                      </m:f>
                      <m:d>
                        <m:dPr>
                          <m:ctrlPr>
                            <a:rPr lang="en-US" sz="1600" i="1">
                              <a:latin typeface="Cambria Math" panose="02040503050406030204" pitchFamily="18" charset="0"/>
                            </a:rPr>
                          </m:ctrlPr>
                        </m:dPr>
                        <m:e>
                          <m:r>
                            <a:rPr lang="en-US" sz="1600" i="0">
                              <a:latin typeface="Cambria Math" panose="02040503050406030204" pitchFamily="18" charset="0"/>
                            </a:rPr>
                            <m:t>1+</m:t>
                          </m:r>
                          <m:func>
                            <m:funcPr>
                              <m:ctrlPr>
                                <a:rPr lang="en-US" sz="1600" i="1">
                                  <a:latin typeface="Cambria Math" panose="02040503050406030204" pitchFamily="18" charset="0"/>
                                </a:rPr>
                              </m:ctrlPr>
                            </m:funcPr>
                            <m:fName>
                              <m:sSup>
                                <m:sSupPr>
                                  <m:ctrlPr>
                                    <a:rPr lang="en-US" sz="1600" i="1">
                                      <a:latin typeface="Cambria Math" panose="02040503050406030204" pitchFamily="18" charset="0"/>
                                    </a:rPr>
                                  </m:ctrlPr>
                                </m:sSupPr>
                                <m:e>
                                  <m:r>
                                    <m:rPr>
                                      <m:sty m:val="p"/>
                                    </m:rPr>
                                    <a:rPr lang="en-US" sz="1600" i="0">
                                      <a:latin typeface="Cambria Math" panose="02040503050406030204" pitchFamily="18" charset="0"/>
                                    </a:rPr>
                                    <m:t>cos</m:t>
                                  </m:r>
                                </m:e>
                                <m:sup>
                                  <m:r>
                                    <a:rPr lang="en-US" sz="1600" i="0">
                                      <a:latin typeface="Cambria Math" panose="02040503050406030204" pitchFamily="18" charset="0"/>
                                    </a:rPr>
                                    <m:t>2</m:t>
                                  </m:r>
                                </m:sup>
                              </m:sSup>
                            </m:fName>
                            <m:e>
                              <m:r>
                                <a:rPr lang="en-US" sz="1600" i="1">
                                  <a:latin typeface="Cambria Math" panose="02040503050406030204" pitchFamily="18" charset="0"/>
                                </a:rPr>
                                <m:t>𝜃</m:t>
                              </m:r>
                            </m:e>
                          </m:func>
                        </m:e>
                      </m:d>
                    </m:oMath>
                  </m:oMathPara>
                </a14:m>
                <a:endParaRPr lang="en-US" sz="1600" dirty="0"/>
              </a:p>
            </p:txBody>
          </p:sp>
        </mc:Choice>
        <mc:Fallback xmlns="">
          <p:sp>
            <p:nvSpPr>
              <p:cNvPr id="10" name="Rectangle 9"/>
              <p:cNvSpPr>
                <a:spLocks noRot="1" noChangeAspect="1" noMove="1" noResize="1" noEditPoints="1" noAdjustHandles="1" noChangeArrowheads="1" noChangeShapeType="1" noTextEdit="1"/>
              </p:cNvSpPr>
              <p:nvPr/>
            </p:nvSpPr>
            <p:spPr>
              <a:xfrm>
                <a:off x="7155325" y="3400031"/>
                <a:ext cx="2452851" cy="55496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7192547" y="4132004"/>
                <a:ext cx="2768835" cy="7477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𝑀</m:t>
                          </m:r>
                        </m:sub>
                      </m:sSub>
                      <m:r>
                        <a:rPr lang="en-US" sz="1600" i="0">
                          <a:latin typeface="Cambria Math" panose="02040503050406030204" pitchFamily="18" charset="0"/>
                        </a:rPr>
                        <m:t>=</m:t>
                      </m:r>
                      <m:f>
                        <m:fPr>
                          <m:ctrlPr>
                            <a:rPr lang="en-US" sz="1600" i="1">
                              <a:latin typeface="Cambria Math" panose="02040503050406030204" pitchFamily="18" charset="0"/>
                            </a:rPr>
                          </m:ctrlPr>
                        </m:fPr>
                        <m:num>
                          <m:r>
                            <a:rPr lang="en-US" sz="1600" i="0">
                              <a:latin typeface="Cambria Math" panose="02040503050406030204" pitchFamily="18" charset="0"/>
                            </a:rPr>
                            <m:t>1−</m:t>
                          </m:r>
                          <m:sSup>
                            <m:sSupPr>
                              <m:ctrlPr>
                                <a:rPr lang="en-US" sz="1600" i="1">
                                  <a:latin typeface="Cambria Math" panose="02040503050406030204" pitchFamily="18" charset="0"/>
                                </a:rPr>
                              </m:ctrlPr>
                            </m:sSupPr>
                            <m:e>
                              <m:r>
                                <a:rPr lang="en-US" sz="1600" i="1">
                                  <a:latin typeface="Cambria Math" panose="02040503050406030204" pitchFamily="18" charset="0"/>
                                </a:rPr>
                                <m:t>𝑔</m:t>
                              </m:r>
                            </m:e>
                            <m:sup>
                              <m:r>
                                <a:rPr lang="en-US" sz="1600" i="0">
                                  <a:latin typeface="Cambria Math" panose="02040503050406030204" pitchFamily="18" charset="0"/>
                                </a:rPr>
                                <m:t>2</m:t>
                              </m:r>
                            </m:sup>
                          </m:sSup>
                        </m:num>
                        <m:den>
                          <m:r>
                            <a:rPr lang="en-US" sz="1600" i="0">
                              <a:latin typeface="Cambria Math" panose="02040503050406030204" pitchFamily="18" charset="0"/>
                            </a:rPr>
                            <m:t>4</m:t>
                          </m:r>
                          <m:r>
                            <a:rPr lang="en-US" sz="1600" i="1">
                              <a:latin typeface="Cambria Math" panose="02040503050406030204" pitchFamily="18" charset="0"/>
                            </a:rPr>
                            <m:t>𝜋</m:t>
                          </m:r>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r>
                                    <a:rPr lang="en-US" sz="1600" i="0">
                                      <a:latin typeface="Cambria Math" panose="02040503050406030204" pitchFamily="18" charset="0"/>
                                    </a:rPr>
                                    <m:t>1+</m:t>
                                  </m:r>
                                  <m:sSup>
                                    <m:sSupPr>
                                      <m:ctrlPr>
                                        <a:rPr lang="en-US" sz="1600" i="1">
                                          <a:latin typeface="Cambria Math" panose="02040503050406030204" pitchFamily="18" charset="0"/>
                                        </a:rPr>
                                      </m:ctrlPr>
                                    </m:sSupPr>
                                    <m:e>
                                      <m:r>
                                        <a:rPr lang="en-US" sz="1600" i="1">
                                          <a:latin typeface="Cambria Math" panose="02040503050406030204" pitchFamily="18" charset="0"/>
                                        </a:rPr>
                                        <m:t>𝑔</m:t>
                                      </m:r>
                                    </m:e>
                                    <m:sup>
                                      <m:r>
                                        <a:rPr lang="en-US" sz="1600" i="0">
                                          <a:latin typeface="Cambria Math" panose="02040503050406030204" pitchFamily="18" charset="0"/>
                                        </a:rPr>
                                        <m:t>2</m:t>
                                      </m:r>
                                    </m:sup>
                                  </m:sSup>
                                  <m:r>
                                    <a:rPr lang="en-US" sz="1600" i="0">
                                      <a:latin typeface="Cambria Math" panose="02040503050406030204" pitchFamily="18" charset="0"/>
                                    </a:rPr>
                                    <m:t>−2</m:t>
                                  </m:r>
                                  <m:r>
                                    <a:rPr lang="en-US" sz="1600" i="1">
                                      <a:latin typeface="Cambria Math" panose="02040503050406030204" pitchFamily="18" charset="0"/>
                                    </a:rPr>
                                    <m:t>𝑔𝑐𝑜𝑠</m:t>
                                  </m:r>
                                  <m:r>
                                    <a:rPr lang="en-US" sz="1600" i="1">
                                      <a:latin typeface="Cambria Math" panose="02040503050406030204" pitchFamily="18" charset="0"/>
                                    </a:rPr>
                                    <m:t>𝜃</m:t>
                                  </m:r>
                                </m:e>
                              </m:d>
                            </m:e>
                            <m:sup>
                              <m:f>
                                <m:fPr>
                                  <m:ctrlPr>
                                    <a:rPr lang="en-US" sz="1600" i="1">
                                      <a:latin typeface="Cambria Math" panose="02040503050406030204" pitchFamily="18" charset="0"/>
                                    </a:rPr>
                                  </m:ctrlPr>
                                </m:fPr>
                                <m:num>
                                  <m:r>
                                    <a:rPr lang="en-US" sz="1600" i="0">
                                      <a:latin typeface="Cambria Math" panose="02040503050406030204" pitchFamily="18" charset="0"/>
                                    </a:rPr>
                                    <m:t>3</m:t>
                                  </m:r>
                                </m:num>
                                <m:den>
                                  <m:r>
                                    <a:rPr lang="en-US" sz="1600" i="0">
                                      <a:latin typeface="Cambria Math" panose="02040503050406030204" pitchFamily="18" charset="0"/>
                                    </a:rPr>
                                    <m:t>2</m:t>
                                  </m:r>
                                </m:den>
                              </m:f>
                            </m:sup>
                          </m:sSup>
                        </m:den>
                      </m:f>
                      <m:r>
                        <a:rPr lang="en-US" sz="1600" i="0">
                          <a:latin typeface="Cambria Math" panose="02040503050406030204" pitchFamily="18" charset="0"/>
                        </a:rPr>
                        <m:t> </m:t>
                      </m:r>
                    </m:oMath>
                  </m:oMathPara>
                </a14:m>
                <a:endParaRPr lang="en-US" sz="1600" dirty="0"/>
              </a:p>
            </p:txBody>
          </p:sp>
        </mc:Choice>
        <mc:Fallback xmlns="">
          <p:sp>
            <p:nvSpPr>
              <p:cNvPr id="11" name="Rectangle 10"/>
              <p:cNvSpPr>
                <a:spLocks noRot="1" noChangeAspect="1" noMove="1" noResize="1" noEditPoints="1" noAdjustHandles="1" noChangeArrowheads="1" noChangeShapeType="1" noTextEdit="1"/>
              </p:cNvSpPr>
              <p:nvPr/>
            </p:nvSpPr>
            <p:spPr>
              <a:xfrm>
                <a:off x="7192547" y="4132004"/>
                <a:ext cx="2768835" cy="747769"/>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7155325" y="2844465"/>
                <a:ext cx="28344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m:rPr>
                                  <m:sty m:val="p"/>
                                </m:rPr>
                                <a:rPr lang="en-US" sz="1600">
                                  <a:latin typeface="Cambria Math" panose="02040503050406030204" pitchFamily="18" charset="0"/>
                                </a:rPr>
                                <m:t>Β</m:t>
                              </m:r>
                            </m:e>
                            <m:sub>
                              <m:r>
                                <a:rPr lang="en-US" sz="1600" i="1">
                                  <a:latin typeface="Cambria Math" panose="02040503050406030204" pitchFamily="18" charset="0"/>
                                </a:rPr>
                                <m:t>𝑠𝑐</m:t>
                              </m:r>
                            </m:sub>
                          </m:sSub>
                          <m:d>
                            <m:dPr>
                              <m:ctrlPr>
                                <a:rPr lang="en-US" sz="1600" i="1">
                                  <a:latin typeface="Cambria Math" panose="02040503050406030204" pitchFamily="18" charset="0"/>
                                </a:rPr>
                              </m:ctrlPr>
                            </m:dPr>
                            <m:e>
                              <m:r>
                                <a:rPr lang="en-US" sz="1600" i="1">
                                  <a:latin typeface="Cambria Math" panose="02040503050406030204" pitchFamily="18" charset="0"/>
                                </a:rPr>
                                <m:t>𝜃</m:t>
                              </m:r>
                            </m:e>
                          </m:d>
                          <m:r>
                            <a:rPr lang="en-US" sz="1600" i="0">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0">
                                  <a:latin typeface="Cambria Math" panose="02040503050406030204" pitchFamily="18" charset="0"/>
                                </a:rPr>
                                <m:t>Β</m:t>
                              </m:r>
                            </m:e>
                            <m:sub>
                              <m:r>
                                <a:rPr lang="en-US" sz="1600" i="1">
                                  <a:latin typeface="Cambria Math" panose="02040503050406030204" pitchFamily="18" charset="0"/>
                                </a:rPr>
                                <m:t>𝑅</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𝑅</m:t>
                              </m:r>
                            </m:sub>
                          </m:sSub>
                          <m:d>
                            <m:dPr>
                              <m:ctrlPr>
                                <a:rPr lang="en-US" sz="1600" i="1">
                                  <a:latin typeface="Cambria Math" panose="02040503050406030204" pitchFamily="18" charset="0"/>
                                </a:rPr>
                              </m:ctrlPr>
                            </m:dPr>
                            <m:e>
                              <m:r>
                                <a:rPr lang="en-US" sz="1600" i="1">
                                  <a:latin typeface="Cambria Math" panose="02040503050406030204" pitchFamily="18" charset="0"/>
                                </a:rPr>
                                <m:t>𝜃</m:t>
                              </m:r>
                            </m:e>
                          </m:d>
                          <m:r>
                            <a:rPr lang="en-US" sz="1600" i="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𝐵</m:t>
                              </m:r>
                            </m:e>
                            <m:sub>
                              <m:r>
                                <a:rPr lang="en-US" sz="1600" i="1">
                                  <a:latin typeface="Cambria Math" panose="02040503050406030204" pitchFamily="18" charset="0"/>
                                </a:rPr>
                                <m:t>𝑀</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𝑀</m:t>
                              </m:r>
                            </m:sub>
                          </m:sSub>
                          <m:r>
                            <a:rPr lang="en-US" sz="1600" i="0">
                              <a:latin typeface="Cambria Math" panose="02040503050406030204" pitchFamily="18" charset="0"/>
                            </a:rPr>
                            <m:t>(</m:t>
                          </m:r>
                          <m:r>
                            <a:rPr lang="en-US" sz="1600" i="1">
                              <a:latin typeface="Cambria Math" panose="02040503050406030204" pitchFamily="18" charset="0"/>
                            </a:rPr>
                            <m:t>𝜃</m:t>
                          </m:r>
                        </m:e>
                      </m:d>
                    </m:oMath>
                  </m:oMathPara>
                </a14:m>
                <a:endParaRPr lang="en-US" sz="1600" dirty="0"/>
              </a:p>
            </p:txBody>
          </p:sp>
        </mc:Choice>
        <mc:Fallback xmlns="">
          <p:sp>
            <p:nvSpPr>
              <p:cNvPr id="12" name="Rectangle 11"/>
              <p:cNvSpPr>
                <a:spLocks noRot="1" noChangeAspect="1" noMove="1" noResize="1" noEditPoints="1" noAdjustHandles="1" noChangeArrowheads="1" noChangeShapeType="1" noTextEdit="1"/>
              </p:cNvSpPr>
              <p:nvPr/>
            </p:nvSpPr>
            <p:spPr>
              <a:xfrm>
                <a:off x="7155325" y="2844465"/>
                <a:ext cx="2834494" cy="338554"/>
              </a:xfrm>
              <a:prstGeom prst="rect">
                <a:avLst/>
              </a:prstGeom>
              <a:blipFill rotWithShape="0">
                <a:blip r:embed="rId11"/>
                <a:stretch>
                  <a:fillRect t="-107273" r="-14839" b="-176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2705162" y="1480169"/>
                <a:ext cx="339083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en-US" i="1">
                              <a:latin typeface="Cambria Math" panose="02040503050406030204" pitchFamily="18" charset="0"/>
                            </a:rPr>
                          </m:ctrlPr>
                        </m:dPr>
                        <m:e>
                          <m:r>
                            <a:rPr lang="en-US" i="1">
                              <a:latin typeface="Cambria Math" panose="02040503050406030204" pitchFamily="18" charset="0"/>
                            </a:rPr>
                            <m:t>𝐿</m:t>
                          </m:r>
                          <m:d>
                            <m:dPr>
                              <m:ctrlPr>
                                <a:rPr lang="en-US" i="1">
                                  <a:latin typeface="Cambria Math" panose="02040503050406030204" pitchFamily="18" charset="0"/>
                                </a:rPr>
                              </m:ctrlPr>
                            </m:dPr>
                            <m:e>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𝜃</m:t>
                              </m:r>
                            </m:e>
                          </m:d>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𝑒𝑥</m:t>
                              </m:r>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𝑖𝑛</m:t>
                              </m:r>
                            </m:sub>
                          </m:sSub>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𝜃</m:t>
                          </m:r>
                        </m:e>
                      </m:d>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2705162" y="1480169"/>
                <a:ext cx="3390838" cy="369332"/>
              </a:xfrm>
              <a:prstGeom prst="rect">
                <a:avLst/>
              </a:prstGeom>
              <a:blipFill rotWithShape="0">
                <a:blip r:embed="rId12"/>
                <a:stretch>
                  <a:fillRect t="-118333" r="-10791" b="-191667"/>
                </a:stretch>
              </a:blipFill>
            </p:spPr>
            <p:txBody>
              <a:bodyPr/>
              <a:lstStyle/>
              <a:p>
                <a:r>
                  <a:rPr lang="en-US">
                    <a:noFill/>
                  </a:rPr>
                  <a:t> </a:t>
                </a:r>
              </a:p>
            </p:txBody>
          </p:sp>
        </mc:Fallback>
      </mc:AlternateContent>
      <p:cxnSp>
        <p:nvCxnSpPr>
          <p:cNvPr id="17" name="Straight Arrow Connector 16"/>
          <p:cNvCxnSpPr/>
          <p:nvPr/>
        </p:nvCxnSpPr>
        <p:spPr>
          <a:xfrm flipV="1">
            <a:off x="3816626" y="1784975"/>
            <a:ext cx="182880" cy="2464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741171" y="1986313"/>
            <a:ext cx="1457450" cy="307777"/>
          </a:xfrm>
          <a:prstGeom prst="rect">
            <a:avLst/>
          </a:prstGeom>
          <a:noFill/>
        </p:spPr>
        <p:txBody>
          <a:bodyPr wrap="none" rtlCol="0">
            <a:spAutoFit/>
          </a:bodyPr>
          <a:lstStyle/>
          <a:p>
            <a:r>
              <a:rPr lang="en-US" sz="1400" dirty="0" smtClean="0">
                <a:solidFill>
                  <a:schemeClr val="accent1">
                    <a:lumMod val="20000"/>
                    <a:lumOff val="80000"/>
                  </a:schemeClr>
                </a:solidFill>
              </a:rPr>
              <a:t>Incoming Light</a:t>
            </a:r>
            <a:endParaRPr lang="en-US" sz="1400" dirty="0">
              <a:solidFill>
                <a:schemeClr val="accent1">
                  <a:lumMod val="20000"/>
                  <a:lumOff val="80000"/>
                </a:schemeClr>
              </a:solidFill>
            </a:endParaRPr>
          </a:p>
        </p:txBody>
      </p:sp>
      <p:cxnSp>
        <p:nvCxnSpPr>
          <p:cNvPr id="28" name="Straight Arrow Connector 27"/>
          <p:cNvCxnSpPr>
            <a:endCxn id="13" idx="2"/>
          </p:cNvCxnSpPr>
          <p:nvPr/>
        </p:nvCxnSpPr>
        <p:spPr>
          <a:xfrm flipH="1" flipV="1">
            <a:off x="4400581" y="1849501"/>
            <a:ext cx="147575" cy="181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299872" y="1986313"/>
            <a:ext cx="1010213" cy="307777"/>
          </a:xfrm>
          <a:prstGeom prst="rect">
            <a:avLst/>
          </a:prstGeom>
          <a:noFill/>
        </p:spPr>
        <p:txBody>
          <a:bodyPr wrap="none" rtlCol="0">
            <a:spAutoFit/>
          </a:bodyPr>
          <a:lstStyle/>
          <a:p>
            <a:r>
              <a:rPr lang="en-US" sz="1400" dirty="0" smtClean="0">
                <a:solidFill>
                  <a:schemeClr val="accent1">
                    <a:lumMod val="20000"/>
                    <a:lumOff val="80000"/>
                  </a:schemeClr>
                </a:solidFill>
              </a:rPr>
              <a:t>Extinction</a:t>
            </a:r>
            <a:endParaRPr lang="en-US" sz="1400" dirty="0">
              <a:solidFill>
                <a:schemeClr val="accent1">
                  <a:lumMod val="20000"/>
                  <a:lumOff val="80000"/>
                </a:schemeClr>
              </a:solidFill>
            </a:endParaRPr>
          </a:p>
        </p:txBody>
      </p:sp>
      <p:cxnSp>
        <p:nvCxnSpPr>
          <p:cNvPr id="36" name="Straight Arrow Connector 35"/>
          <p:cNvCxnSpPr/>
          <p:nvPr/>
        </p:nvCxnSpPr>
        <p:spPr>
          <a:xfrm flipH="1" flipV="1">
            <a:off x="5534108" y="1784975"/>
            <a:ext cx="357809" cy="2425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455146" y="1972483"/>
            <a:ext cx="1749197" cy="307777"/>
          </a:xfrm>
          <a:prstGeom prst="rect">
            <a:avLst/>
          </a:prstGeom>
          <a:noFill/>
        </p:spPr>
        <p:txBody>
          <a:bodyPr wrap="none" rtlCol="0">
            <a:spAutoFit/>
          </a:bodyPr>
          <a:lstStyle/>
          <a:p>
            <a:r>
              <a:rPr lang="en-US" sz="1400" dirty="0" smtClean="0">
                <a:solidFill>
                  <a:schemeClr val="accent1">
                    <a:lumMod val="20000"/>
                    <a:lumOff val="80000"/>
                  </a:schemeClr>
                </a:solidFill>
              </a:rPr>
              <a:t>Solar In-Scattering</a:t>
            </a:r>
            <a:endParaRPr lang="en-US" sz="1400" dirty="0">
              <a:solidFill>
                <a:schemeClr val="accent1">
                  <a:lumMod val="20000"/>
                  <a:lumOff val="80000"/>
                </a:schemeClr>
              </a:solidFill>
            </a:endParaRPr>
          </a:p>
        </p:txBody>
      </p:sp>
      <mc:AlternateContent xmlns:mc="http://schemas.openxmlformats.org/markup-compatibility/2006" xmlns:a14="http://schemas.microsoft.com/office/drawing/2010/main">
        <mc:Choice Requires="a14">
          <p:sp>
            <p:nvSpPr>
              <p:cNvPr id="38" name="TextBox 37"/>
              <p:cNvSpPr txBox="1"/>
              <p:nvPr/>
            </p:nvSpPr>
            <p:spPr>
              <a:xfrm>
                <a:off x="1793472" y="4876850"/>
                <a:ext cx="3197991" cy="1815882"/>
              </a:xfrm>
              <a:prstGeom prst="rect">
                <a:avLst/>
              </a:prstGeom>
              <a:noFill/>
            </p:spPr>
            <p:txBody>
              <a:bodyPr wrap="none" rtlCol="0">
                <a:spAutoFit/>
              </a:bodyPr>
              <a:lstStyle/>
              <a:p>
                <a:r>
                  <a:rPr lang="en-US" sz="1400" dirty="0" smtClean="0">
                    <a:latin typeface="Cambria Math" panose="02040503050406030204" pitchFamily="18" charset="0"/>
                    <a:ea typeface="Cambria Math" panose="02040503050406030204" pitchFamily="18" charset="0"/>
                  </a:rPr>
                  <a:t>s: distance travelled to eye</a:t>
                </a:r>
              </a:p>
              <a:p>
                <a:r>
                  <a:rPr lang="en-US" sz="1400" dirty="0" smtClean="0">
                    <a:latin typeface="Cambria Math" panose="02040503050406030204" pitchFamily="18" charset="0"/>
                    <a:ea typeface="Cambria Math" panose="02040503050406030204" pitchFamily="18" charset="0"/>
                  </a:rPr>
                  <a:t>n: refractive index of air</a:t>
                </a:r>
              </a:p>
              <a:p>
                <a:r>
                  <a:rPr lang="en-US" sz="1400" dirty="0" smtClean="0">
                    <a:latin typeface="Cambria Math" panose="02040503050406030204" pitchFamily="18" charset="0"/>
                    <a:ea typeface="Cambria Math" panose="02040503050406030204" pitchFamily="18" charset="0"/>
                  </a:rPr>
                  <a:t>N: # molecules / unit volume</a:t>
                </a:r>
              </a:p>
              <a:p>
                <a14:m>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𝑝</m:t>
                        </m:r>
                      </m:e>
                      <m:sub>
                        <m:r>
                          <a:rPr lang="en-US" sz="1400" b="0" i="1" smtClean="0">
                            <a:latin typeface="Cambria Math" panose="02040503050406030204" pitchFamily="18" charset="0"/>
                            <a:ea typeface="Cambria Math" panose="02040503050406030204" pitchFamily="18" charset="0"/>
                          </a:rPr>
                          <m:t>𝑛</m:t>
                        </m:r>
                      </m:sub>
                    </m:sSub>
                  </m:oMath>
                </a14:m>
                <a:r>
                  <a:rPr lang="en-US" sz="1400" dirty="0" smtClean="0">
                    <a:latin typeface="Cambria Math" panose="02040503050406030204" pitchFamily="18" charset="0"/>
                    <a:ea typeface="Cambria Math" panose="02040503050406030204" pitchFamily="18" charset="0"/>
                  </a:rPr>
                  <a:t>: depolarization factor</a:t>
                </a:r>
              </a:p>
              <a:p>
                <a14:m>
                  <m:oMath xmlns:m="http://schemas.openxmlformats.org/officeDocument/2006/math">
                    <m:r>
                      <a:rPr lang="en-US" sz="1400" b="0" i="1" smtClean="0">
                        <a:latin typeface="Cambria Math" panose="02040503050406030204" pitchFamily="18" charset="0"/>
                        <a:ea typeface="Cambria Math" panose="02040503050406030204" pitchFamily="18" charset="0"/>
                      </a:rPr>
                      <m:t>𝜆</m:t>
                    </m:r>
                  </m:oMath>
                </a14:m>
                <a:r>
                  <a:rPr lang="en-US" sz="1400" dirty="0" smtClean="0">
                    <a:latin typeface="Cambria Math" panose="02040503050406030204" pitchFamily="18" charset="0"/>
                    <a:ea typeface="Cambria Math" panose="02040503050406030204" pitchFamily="18" charset="0"/>
                  </a:rPr>
                  <a:t>: wavelength of light</a:t>
                </a:r>
              </a:p>
              <a:p>
                <a:r>
                  <a:rPr lang="en-US" sz="1400" dirty="0" smtClean="0">
                    <a:latin typeface="Cambria Math" panose="02040503050406030204" pitchFamily="18" charset="0"/>
                    <a:ea typeface="Cambria Math" panose="02040503050406030204" pitchFamily="18" charset="0"/>
                  </a:rPr>
                  <a:t>v: </a:t>
                </a:r>
                <a:r>
                  <a:rPr lang="en-US" sz="1400" dirty="0" err="1" smtClean="0">
                    <a:latin typeface="Cambria Math" panose="02040503050406030204" pitchFamily="18" charset="0"/>
                    <a:ea typeface="Cambria Math" panose="02040503050406030204" pitchFamily="18" charset="0"/>
                  </a:rPr>
                  <a:t>Junge’s</a:t>
                </a:r>
                <a:r>
                  <a:rPr lang="en-US" sz="1400" dirty="0" smtClean="0">
                    <a:latin typeface="Cambria Math" panose="02040503050406030204" pitchFamily="18" charset="0"/>
                    <a:ea typeface="Cambria Math" panose="02040503050406030204" pitchFamily="18" charset="0"/>
                  </a:rPr>
                  <a:t> exponent</a:t>
                </a:r>
              </a:p>
              <a:p>
                <a:r>
                  <a:rPr lang="en-US" sz="1400" dirty="0" smtClean="0">
                    <a:latin typeface="Cambria Math" panose="02040503050406030204" pitchFamily="18" charset="0"/>
                    <a:ea typeface="Cambria Math" panose="02040503050406030204" pitchFamily="18" charset="0"/>
                  </a:rPr>
                  <a:t>K: spectral quantities</a:t>
                </a:r>
              </a:p>
              <a:p>
                <a:r>
                  <a:rPr lang="en-US" sz="1400" dirty="0" smtClean="0">
                    <a:latin typeface="Cambria Math" panose="02040503050406030204" pitchFamily="18" charset="0"/>
                    <a:ea typeface="Cambria Math" panose="02040503050406030204" pitchFamily="18" charset="0"/>
                  </a:rPr>
                  <a:t>T: turbidity (ratio of haze to molecules)</a:t>
                </a:r>
                <a:endParaRPr lang="en-US" sz="1400" dirty="0">
                  <a:latin typeface="Cambria Math" panose="02040503050406030204" pitchFamily="18" charset="0"/>
                  <a:ea typeface="Cambria Math" panose="02040503050406030204" pitchFamily="18" charset="0"/>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1793472" y="4876850"/>
                <a:ext cx="3197991" cy="1815882"/>
              </a:xfrm>
              <a:prstGeom prst="rect">
                <a:avLst/>
              </a:prstGeom>
              <a:blipFill rotWithShape="0">
                <a:blip r:embed="rId13"/>
                <a:stretch>
                  <a:fillRect l="-571" t="-1007" b="-2349"/>
                </a:stretch>
              </a:blipFill>
            </p:spPr>
            <p:txBody>
              <a:bodyPr/>
              <a:lstStyle/>
              <a:p>
                <a:r>
                  <a:rPr lang="en-US">
                    <a:noFill/>
                  </a:rPr>
                  <a:t> </a:t>
                </a:r>
              </a:p>
            </p:txBody>
          </p:sp>
        </mc:Fallback>
      </mc:AlternateContent>
      <p:sp>
        <p:nvSpPr>
          <p:cNvPr id="39" name="Left Brace 38"/>
          <p:cNvSpPr/>
          <p:nvPr/>
        </p:nvSpPr>
        <p:spPr>
          <a:xfrm rot="5400000">
            <a:off x="4168377" y="978318"/>
            <a:ext cx="258482" cy="961984"/>
          </a:xfrm>
          <a:prstGeom prst="leftBrace">
            <a:avLst>
              <a:gd name="adj1" fmla="val 8333"/>
              <a:gd name="adj2" fmla="val 51654"/>
            </a:avLst>
          </a:prstGeom>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en-US"/>
          </a:p>
        </p:txBody>
      </p:sp>
      <p:sp>
        <p:nvSpPr>
          <p:cNvPr id="40" name="TextBox 39"/>
          <p:cNvSpPr txBox="1"/>
          <p:nvPr/>
        </p:nvSpPr>
        <p:spPr>
          <a:xfrm>
            <a:off x="3667477" y="1133645"/>
            <a:ext cx="1260281" cy="276999"/>
          </a:xfrm>
          <a:prstGeom prst="rect">
            <a:avLst/>
          </a:prstGeom>
          <a:noFill/>
        </p:spPr>
        <p:txBody>
          <a:bodyPr wrap="none" rtlCol="0">
            <a:spAutoFit/>
          </a:bodyPr>
          <a:lstStyle/>
          <a:p>
            <a:r>
              <a:rPr lang="en-US" sz="1200" dirty="0" smtClean="0"/>
              <a:t>Out-scattering</a:t>
            </a:r>
            <a:endParaRPr lang="en-US" sz="1200" dirty="0"/>
          </a:p>
        </p:txBody>
      </p:sp>
      <p:sp>
        <p:nvSpPr>
          <p:cNvPr id="41" name="Left Brace 40"/>
          <p:cNvSpPr/>
          <p:nvPr/>
        </p:nvSpPr>
        <p:spPr>
          <a:xfrm rot="5400000">
            <a:off x="5259093" y="1003783"/>
            <a:ext cx="258482" cy="864042"/>
          </a:xfrm>
          <a:prstGeom prst="leftBrace">
            <a:avLst>
              <a:gd name="adj1" fmla="val 8333"/>
              <a:gd name="adj2" fmla="val 51654"/>
            </a:avLst>
          </a:prstGeom>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en-US"/>
          </a:p>
        </p:txBody>
      </p:sp>
      <p:sp>
        <p:nvSpPr>
          <p:cNvPr id="42" name="TextBox 41"/>
          <p:cNvSpPr txBox="1"/>
          <p:nvPr/>
        </p:nvSpPr>
        <p:spPr>
          <a:xfrm>
            <a:off x="4899545" y="1108446"/>
            <a:ext cx="1111202" cy="276999"/>
          </a:xfrm>
          <a:prstGeom prst="rect">
            <a:avLst/>
          </a:prstGeom>
          <a:noFill/>
        </p:spPr>
        <p:txBody>
          <a:bodyPr wrap="none" rtlCol="0">
            <a:spAutoFit/>
          </a:bodyPr>
          <a:lstStyle/>
          <a:p>
            <a:r>
              <a:rPr lang="en-US" sz="1200" dirty="0" smtClean="0"/>
              <a:t>In-scattering</a:t>
            </a:r>
            <a:endParaRPr lang="en-US" sz="1200" dirty="0"/>
          </a:p>
        </p:txBody>
      </p:sp>
      <mc:AlternateContent xmlns:mc="http://schemas.openxmlformats.org/markup-compatibility/2006" xmlns:a14="http://schemas.microsoft.com/office/drawing/2010/main">
        <mc:Choice Requires="a14">
          <p:sp>
            <p:nvSpPr>
              <p:cNvPr id="44" name="TextBox 43"/>
              <p:cNvSpPr txBox="1"/>
              <p:nvPr/>
            </p:nvSpPr>
            <p:spPr>
              <a:xfrm>
                <a:off x="6010747" y="5090094"/>
                <a:ext cx="4560800" cy="738664"/>
              </a:xfrm>
              <a:prstGeom prst="rect">
                <a:avLst/>
              </a:prstGeom>
              <a:noFill/>
            </p:spPr>
            <p:txBody>
              <a:bodyPr wrap="none" rtlCol="0">
                <a:spAutoFit/>
              </a:bodyPr>
              <a:lstStyle/>
              <a:p>
                <a14:m>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𝐸</m:t>
                        </m:r>
                      </m:e>
                      <m:sub>
                        <m:r>
                          <a:rPr lang="en-US" sz="1400" b="0" i="1" smtClean="0">
                            <a:latin typeface="Cambria Math" panose="02040503050406030204" pitchFamily="18" charset="0"/>
                            <a:ea typeface="Cambria Math" panose="02040503050406030204" pitchFamily="18" charset="0"/>
                          </a:rPr>
                          <m:t>𝑠𝑢𝑛</m:t>
                        </m:r>
                      </m:sub>
                    </m:sSub>
                  </m:oMath>
                </a14:m>
                <a:r>
                  <a:rPr lang="en-US" sz="1400" dirty="0" smtClean="0">
                    <a:latin typeface="Cambria Math" panose="02040503050406030204" pitchFamily="18" charset="0"/>
                    <a:ea typeface="Cambria Math" panose="02040503050406030204" pitchFamily="18" charset="0"/>
                  </a:rPr>
                  <a:t>: irradiance of sun</a:t>
                </a:r>
              </a:p>
              <a:p>
                <a14:m>
                  <m:oMath xmlns:m="http://schemas.openxmlformats.org/officeDocument/2006/math">
                    <m:r>
                      <a:rPr lang="en-US" sz="1400" b="0" i="1" smtClean="0">
                        <a:latin typeface="Cambria Math" panose="02040503050406030204" pitchFamily="18" charset="0"/>
                        <a:ea typeface="Cambria Math" panose="02040503050406030204" pitchFamily="18" charset="0"/>
                      </a:rPr>
                      <m:t>𝜃</m:t>
                    </m:r>
                  </m:oMath>
                </a14:m>
                <a:r>
                  <a:rPr lang="en-US" sz="1400" dirty="0" smtClean="0">
                    <a:latin typeface="Cambria Math" panose="02040503050406030204" pitchFamily="18" charset="0"/>
                    <a:ea typeface="Cambria Math" panose="02040503050406030204" pitchFamily="18" charset="0"/>
                  </a:rPr>
                  <a:t>: angle between viewing and sun vectors</a:t>
                </a:r>
              </a:p>
              <a:p>
                <a:r>
                  <a:rPr lang="en-US" sz="1400" dirty="0" smtClean="0">
                    <a:latin typeface="Cambria Math" panose="02040503050406030204" pitchFamily="18" charset="0"/>
                    <a:ea typeface="Cambria Math" panose="02040503050406030204" pitchFamily="18" charset="0"/>
                  </a:rPr>
                  <a:t>g: constant for </a:t>
                </a:r>
                <a:r>
                  <a:rPr lang="en-US" sz="1400" dirty="0" err="1" smtClean="0">
                    <a:latin typeface="Cambria Math" panose="02040503050406030204" pitchFamily="18" charset="0"/>
                    <a:ea typeface="Cambria Math" panose="02040503050406030204" pitchFamily="18" charset="0"/>
                  </a:rPr>
                  <a:t>Henyey</a:t>
                </a:r>
                <a:r>
                  <a:rPr lang="en-US" sz="1400" dirty="0" smtClean="0">
                    <a:latin typeface="Cambria Math" panose="02040503050406030204" pitchFamily="18" charset="0"/>
                    <a:ea typeface="Cambria Math" panose="02040503050406030204" pitchFamily="18" charset="0"/>
                  </a:rPr>
                  <a:t>-Greenstein’s phase approximation</a:t>
                </a:r>
                <a:endParaRPr lang="en-US" sz="1400" dirty="0">
                  <a:latin typeface="Cambria Math" panose="02040503050406030204" pitchFamily="18" charset="0"/>
                  <a:ea typeface="Cambria Math" panose="02040503050406030204" pitchFamily="18" charset="0"/>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6010747" y="5090094"/>
                <a:ext cx="4560800" cy="738664"/>
              </a:xfrm>
              <a:prstGeom prst="rect">
                <a:avLst/>
              </a:prstGeom>
              <a:blipFill rotWithShape="0">
                <a:blip r:embed="rId14"/>
                <a:stretch>
                  <a:fillRect l="-401" t="-2479" b="-6612"/>
                </a:stretch>
              </a:blipFill>
            </p:spPr>
            <p:txBody>
              <a:bodyPr/>
              <a:lstStyle/>
              <a:p>
                <a:r>
                  <a:rPr lang="en-US">
                    <a:noFill/>
                  </a:rPr>
                  <a:t> </a:t>
                </a:r>
              </a:p>
            </p:txBody>
          </p:sp>
        </mc:Fallback>
      </mc:AlternateContent>
    </p:spTree>
    <p:extLst>
      <p:ext uri="{BB962C8B-B14F-4D97-AF65-F5344CB8AC3E}">
        <p14:creationId xmlns:p14="http://schemas.microsoft.com/office/powerpoint/2010/main" val="3601496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Formula Visualizations</a:t>
            </a:r>
            <a:endParaRPr lang="en-US" dirty="0"/>
          </a:p>
        </p:txBody>
      </p:sp>
      <p:pic>
        <p:nvPicPr>
          <p:cNvPr id="4" name="Picture 3"/>
          <p:cNvPicPr/>
          <p:nvPr/>
        </p:nvPicPr>
        <p:blipFill rotWithShape="1">
          <a:blip r:embed="rId3" cstate="print">
            <a:extLst>
              <a:ext uri="{28A0092B-C50C-407E-A947-70E740481C1C}">
                <a14:useLocalDpi xmlns:a14="http://schemas.microsoft.com/office/drawing/2010/main" val="0"/>
              </a:ext>
            </a:extLst>
          </a:blip>
          <a:srcRect l="24676" t="32519" r="25109" b="7112"/>
          <a:stretch/>
        </p:blipFill>
        <p:spPr bwMode="auto">
          <a:xfrm>
            <a:off x="5928047" y="1608439"/>
            <a:ext cx="5137897" cy="3800722"/>
          </a:xfrm>
          <a:prstGeom prst="rect">
            <a:avLst/>
          </a:prstGeom>
          <a:ln w="12700">
            <a:solidFill>
              <a:schemeClr val="tx1"/>
            </a:solidFill>
          </a:ln>
          <a:extLst>
            <a:ext uri="{53640926-AAD7-44D8-BBD7-CCE9431645EC}">
              <a14:shadowObscured xmlns:a14="http://schemas.microsoft.com/office/drawing/2010/main"/>
            </a:ext>
          </a:extLst>
        </p:spPr>
      </p:pic>
      <p:pic>
        <p:nvPicPr>
          <p:cNvPr id="5" name="Picture 4"/>
          <p:cNvPicPr/>
          <p:nvPr/>
        </p:nvPicPr>
        <p:blipFill rotWithShape="1">
          <a:blip r:embed="rId4" cstate="print">
            <a:extLst>
              <a:ext uri="{28A0092B-C50C-407E-A947-70E740481C1C}">
                <a14:useLocalDpi xmlns:a14="http://schemas.microsoft.com/office/drawing/2010/main" val="0"/>
              </a:ext>
            </a:extLst>
          </a:blip>
          <a:srcRect l="24820" t="20391" r="25689" b="18207"/>
          <a:stretch/>
        </p:blipFill>
        <p:spPr bwMode="auto">
          <a:xfrm>
            <a:off x="646111" y="1604904"/>
            <a:ext cx="4986022" cy="3807793"/>
          </a:xfrm>
          <a:prstGeom prst="rect">
            <a:avLst/>
          </a:prstGeom>
          <a:ln w="12700" cap="flat" cmpd="sng" algn="ctr">
            <a:solidFill>
              <a:schemeClr val="tx1"/>
            </a:solidFill>
            <a:prstDash val="solid"/>
            <a:round/>
            <a:headEnd type="none" w="med" len="med"/>
            <a:tailEnd type="none" w="med" len="med"/>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6" name="TextBox 5"/>
              <p:cNvSpPr txBox="1"/>
              <p:nvPr/>
            </p:nvSpPr>
            <p:spPr>
              <a:xfrm>
                <a:off x="769704" y="5409161"/>
                <a:ext cx="10296240" cy="923330"/>
              </a:xfrm>
              <a:prstGeom prst="rect">
                <a:avLst/>
              </a:prstGeom>
              <a:noFill/>
            </p:spPr>
            <p:txBody>
              <a:bodyPr wrap="square" rtlCol="0">
                <a:spAutoFit/>
              </a:bodyPr>
              <a:lstStyle/>
              <a:p>
                <a:pPr>
                  <a:lnSpc>
                    <a:spcPct val="200000"/>
                  </a:lnSpc>
                </a:pPr>
                <a:r>
                  <a:rPr lang="en-US" b="1" dirty="0" smtClean="0"/>
                  <a:t>Left: </a:t>
                </a:r>
                <a:r>
                  <a:rPr lang="en-US" dirty="0" smtClean="0"/>
                  <a:t>Product of incoming light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0</m:t>
                        </m:r>
                      </m:sub>
                    </m:sSub>
                  </m:oMath>
                </a14:m>
                <a:r>
                  <a:rPr lang="en-US" dirty="0" smtClean="0"/>
                  <a:t>) and extinction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𝑒𝑥</m:t>
                        </m:r>
                      </m:sub>
                    </m:sSub>
                  </m:oMath>
                </a14:m>
                <a:r>
                  <a:rPr lang="en-US" dirty="0" smtClean="0"/>
                  <a:t>). </a:t>
                </a:r>
              </a:p>
              <a:p>
                <a:r>
                  <a:rPr lang="en-US" b="1" dirty="0" smtClean="0"/>
                  <a:t>Right: </a:t>
                </a:r>
                <a:r>
                  <a:rPr lang="en-US" dirty="0" smtClean="0"/>
                  <a:t>Combination of the product of incoming light and extinction and solar in-scattering.</a:t>
                </a:r>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69704" y="5409161"/>
                <a:ext cx="10296240" cy="923330"/>
              </a:xfrm>
              <a:prstGeom prst="rect">
                <a:avLst/>
              </a:prstGeom>
              <a:blipFill rotWithShape="0">
                <a:blip r:embed="rId5"/>
                <a:stretch>
                  <a:fillRect l="-474" b="-9211"/>
                </a:stretch>
              </a:blipFill>
            </p:spPr>
            <p:txBody>
              <a:bodyPr/>
              <a:lstStyle/>
              <a:p>
                <a:r>
                  <a:rPr lang="en-US">
                    <a:noFill/>
                  </a:rPr>
                  <a:t> </a:t>
                </a:r>
              </a:p>
            </p:txBody>
          </p:sp>
        </mc:Fallback>
      </mc:AlternateContent>
    </p:spTree>
    <p:extLst>
      <p:ext uri="{BB962C8B-B14F-4D97-AF65-F5344CB8AC3E}">
        <p14:creationId xmlns:p14="http://schemas.microsoft.com/office/powerpoint/2010/main" val="3358630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042127"/>
          </a:xfrm>
        </p:spPr>
        <p:txBody>
          <a:bodyPr/>
          <a:lstStyle/>
          <a:p>
            <a:r>
              <a:rPr lang="en-US" sz="4400" dirty="0" smtClean="0"/>
              <a:t>Simon Wallner and Joshua Koo</a:t>
            </a:r>
            <a:endParaRPr lang="en-US" sz="4400" dirty="0"/>
          </a:p>
        </p:txBody>
      </p:sp>
      <p:sp>
        <p:nvSpPr>
          <p:cNvPr id="3" name="Content Placeholder 2"/>
          <p:cNvSpPr>
            <a:spLocks noGrp="1"/>
          </p:cNvSpPr>
          <p:nvPr>
            <p:ph idx="1"/>
          </p:nvPr>
        </p:nvSpPr>
        <p:spPr>
          <a:xfrm>
            <a:off x="1104293" y="1567888"/>
            <a:ext cx="8946541" cy="4195481"/>
          </a:xfrm>
        </p:spPr>
        <p:txBody>
          <a:bodyPr>
            <a:normAutofit/>
          </a:bodyPr>
          <a:lstStyle/>
          <a:p>
            <a:r>
              <a:rPr lang="en-US" dirty="0" smtClean="0"/>
              <a:t>Shaders by Simon Wallner</a:t>
            </a:r>
          </a:p>
          <a:p>
            <a:pPr lvl="1"/>
            <a:r>
              <a:rPr lang="en-US" dirty="0">
                <a:hlinkClick r:id="rId3"/>
              </a:rPr>
              <a:t>http://</a:t>
            </a:r>
            <a:r>
              <a:rPr lang="en-US" dirty="0" smtClean="0">
                <a:hlinkClick r:id="rId3"/>
              </a:rPr>
              <a:t>www.simonwallner.at/projects/atmospheric-scattering</a:t>
            </a:r>
            <a:endParaRPr lang="en-US" dirty="0"/>
          </a:p>
          <a:p>
            <a:pPr lvl="1"/>
            <a:r>
              <a:rPr lang="en-US" dirty="0" smtClean="0"/>
              <a:t>C</a:t>
            </a:r>
            <a:r>
              <a:rPr lang="en-US" dirty="0" smtClean="0"/>
              <a:t>++ implementation(using GLSL shaders) </a:t>
            </a:r>
          </a:p>
          <a:p>
            <a:pPr lvl="1"/>
            <a:r>
              <a:rPr lang="en-US" dirty="0" smtClean="0"/>
              <a:t>Based on </a:t>
            </a:r>
            <a:r>
              <a:rPr lang="en-US" dirty="0" err="1" smtClean="0"/>
              <a:t>Preetham’s</a:t>
            </a:r>
            <a:r>
              <a:rPr lang="en-US" dirty="0"/>
              <a:t> </a:t>
            </a:r>
            <a:r>
              <a:rPr lang="en-US" dirty="0" smtClean="0"/>
              <a:t>papers</a:t>
            </a:r>
          </a:p>
          <a:p>
            <a:pPr lvl="1"/>
            <a:r>
              <a:rPr lang="en-US" dirty="0" smtClean="0"/>
              <a:t>Lack of vibrant reds, oranges, and blues</a:t>
            </a:r>
          </a:p>
          <a:p>
            <a:pPr marL="457200" lvl="1" indent="0">
              <a:buNone/>
            </a:pPr>
            <a:endParaRPr lang="en-US" dirty="0" smtClean="0"/>
          </a:p>
          <a:p>
            <a:r>
              <a:rPr lang="en-US" dirty="0" smtClean="0"/>
              <a:t>Shader by Joshua Koo</a:t>
            </a:r>
          </a:p>
          <a:p>
            <a:pPr lvl="1"/>
            <a:r>
              <a:rPr lang="en-US" dirty="0">
                <a:hlinkClick r:id="rId4"/>
              </a:rPr>
              <a:t>http://threejs.org/examples/#</a:t>
            </a:r>
            <a:r>
              <a:rPr lang="en-US" dirty="0" smtClean="0">
                <a:hlinkClick r:id="rId4"/>
              </a:rPr>
              <a:t>webgl_shaders_sky</a:t>
            </a:r>
            <a:endParaRPr lang="en-US" dirty="0" smtClean="0"/>
          </a:p>
          <a:p>
            <a:pPr lvl="1"/>
            <a:r>
              <a:rPr lang="en-US" dirty="0" smtClean="0"/>
              <a:t>He used Simon Wallner’s shader to port </a:t>
            </a:r>
            <a:r>
              <a:rPr lang="en-US" dirty="0" err="1" smtClean="0"/>
              <a:t>Preetham’s</a:t>
            </a:r>
            <a:r>
              <a:rPr lang="en-US" dirty="0" smtClean="0"/>
              <a:t> to Three JS</a:t>
            </a:r>
          </a:p>
          <a:p>
            <a:pPr lvl="1"/>
            <a:r>
              <a:rPr lang="en-US" dirty="0"/>
              <a:t>A</a:t>
            </a:r>
            <a:r>
              <a:rPr lang="en-US" dirty="0" smtClean="0"/>
              <a:t>dded high-dynamic rendering (white-balancing) </a:t>
            </a:r>
            <a:endParaRPr lang="en-US" dirty="0"/>
          </a:p>
        </p:txBody>
      </p:sp>
    </p:spTree>
    <p:extLst>
      <p:ext uri="{BB962C8B-B14F-4D97-AF65-F5344CB8AC3E}">
        <p14:creationId xmlns:p14="http://schemas.microsoft.com/office/powerpoint/2010/main" val="3088333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 Improvements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32974" y="1505842"/>
                <a:ext cx="10057057" cy="4527636"/>
              </a:xfrm>
            </p:spPr>
            <p:txBody>
              <a:bodyPr>
                <a:normAutofit/>
              </a:bodyPr>
              <a:lstStyle/>
              <a:p>
                <a:r>
                  <a:rPr lang="en-US" b="0" dirty="0" smtClean="0">
                    <a:latin typeface="+mn-lt"/>
                  </a:rPr>
                  <a:t>Removed: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𝜃</m:t>
                    </m:r>
                    <m:r>
                      <a:rPr lang="en-US" b="0" i="1" smtClean="0">
                        <a:latin typeface="Cambria Math" panose="02040503050406030204" pitchFamily="18" charset="0"/>
                      </a:rPr>
                      <m:t>)</m:t>
                    </m:r>
                  </m:oMath>
                </a14:m>
                <a:r>
                  <a:rPr lang="en-US" dirty="0" smtClean="0"/>
                  <a:t> raised to the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oMath>
                </a14:m>
                <a:r>
                  <a:rPr lang="en-US" dirty="0" smtClean="0"/>
                  <a:t> power </a:t>
                </a:r>
              </a:p>
              <a:p>
                <a:pPr lvl="2"/>
                <a:r>
                  <a:rPr lang="sv-SE" sz="1300" dirty="0">
                    <a:latin typeface="Consolas" panose="020B0609020204030204" pitchFamily="49" charset="0"/>
                    <a:cs typeface="Consolas" panose="020B0609020204030204" pitchFamily="49" charset="0"/>
                    <a:sym typeface="Wingdings" panose="05000000000000000000" pitchFamily="2" charset="2"/>
                  </a:rPr>
                  <a:t>vec3 Lin = pow(sunE * ((betaRTheta + betaMTheta) / (betaR + betaM)) * (1.0 - Fex),vec3(1.5</a:t>
                </a:r>
                <a:r>
                  <a:rPr lang="sv-SE" sz="1300" dirty="0" smtClean="0">
                    <a:latin typeface="Consolas" panose="020B0609020204030204" pitchFamily="49" charset="0"/>
                    <a:cs typeface="Consolas" panose="020B0609020204030204" pitchFamily="49" charset="0"/>
                    <a:sym typeface="Wingdings" panose="05000000000000000000" pitchFamily="2" charset="2"/>
                  </a:rPr>
                  <a:t>))</a:t>
                </a:r>
                <a:endParaRPr lang="en-US" sz="1300" dirty="0" smtClean="0">
                  <a:latin typeface="Consolas" panose="020B0609020204030204" pitchFamily="49" charset="0"/>
                  <a:cs typeface="Consolas" panose="020B0609020204030204" pitchFamily="49" charset="0"/>
                  <a:sym typeface="Wingdings" panose="05000000000000000000" pitchFamily="2" charset="2"/>
                </a:endParaRPr>
              </a:p>
              <a:p>
                <a:pPr lvl="1"/>
                <a:r>
                  <a:rPr lang="en-US" dirty="0" smtClean="0">
                    <a:sym typeface="Wingdings" panose="05000000000000000000" pitchFamily="2" charset="2"/>
                  </a:rPr>
                  <a:t>Concentration factor, </a:t>
                </a:r>
                <a14:m>
                  <m:oMath xmlns:m="http://schemas.openxmlformats.org/officeDocument/2006/math">
                    <m:r>
                      <a:rPr lang="en-US" sz="1600" b="0" i="1" smtClean="0">
                        <a:latin typeface="Cambria Math" panose="02040503050406030204" pitchFamily="18" charset="0"/>
                        <a:sym typeface="Wingdings" panose="05000000000000000000" pitchFamily="2" charset="2"/>
                      </a:rPr>
                      <m:t>𝑐</m:t>
                    </m:r>
                    <m:r>
                      <a:rPr lang="en-US" sz="1600" b="0" i="0" smtClean="0">
                        <a:latin typeface="Cambria Math" panose="02040503050406030204" pitchFamily="18" charset="0"/>
                        <a:sym typeface="Wingdings" panose="05000000000000000000" pitchFamily="2" charset="2"/>
                      </a:rPr>
                      <m:t>=0.2</m:t>
                    </m:r>
                    <m:r>
                      <m:rPr>
                        <m:sty m:val="p"/>
                      </m:rPr>
                      <a:rPr lang="en-US" sz="1600" b="0" i="0" smtClean="0">
                        <a:latin typeface="Cambria Math" panose="02040503050406030204" pitchFamily="18" charset="0"/>
                        <a:sym typeface="Wingdings" panose="05000000000000000000" pitchFamily="2" charset="2"/>
                      </a:rPr>
                      <m:t>T</m:t>
                    </m:r>
                    <m:r>
                      <a:rPr lang="en-US" sz="1600" b="0" i="1" smtClean="0">
                        <a:latin typeface="Cambria Math" panose="02040503050406030204" pitchFamily="18" charset="0"/>
                        <a:sym typeface="Wingdings" panose="05000000000000000000" pitchFamily="2" charset="2"/>
                      </a:rPr>
                      <m:t>×10×</m:t>
                    </m:r>
                    <m:sSup>
                      <m:sSupPr>
                        <m:ctrlPr>
                          <a:rPr lang="en-US" sz="1600" b="0" i="1" smtClean="0">
                            <a:latin typeface="Cambria Math" panose="02040503050406030204" pitchFamily="18" charset="0"/>
                            <a:sym typeface="Wingdings" panose="05000000000000000000" pitchFamily="2" charset="2"/>
                          </a:rPr>
                        </m:ctrlPr>
                      </m:sSupPr>
                      <m:e>
                        <m:r>
                          <a:rPr lang="en-US" sz="1600" b="0" i="1" smtClean="0">
                            <a:latin typeface="Cambria Math" panose="02040503050406030204" pitchFamily="18" charset="0"/>
                            <a:sym typeface="Wingdings" panose="05000000000000000000" pitchFamily="2" charset="2"/>
                          </a:rPr>
                          <m:t>10</m:t>
                        </m:r>
                      </m:e>
                      <m:sup>
                        <m:r>
                          <a:rPr lang="en-US" sz="1600" b="0" i="1" smtClean="0">
                            <a:latin typeface="Cambria Math" panose="02040503050406030204" pitchFamily="18" charset="0"/>
                            <a:sym typeface="Wingdings" panose="05000000000000000000" pitchFamily="2" charset="2"/>
                          </a:rPr>
                          <m:t>−18</m:t>
                        </m:r>
                      </m:sup>
                    </m:sSup>
                  </m:oMath>
                </a14:m>
                <a:r>
                  <a:rPr lang="en-US" dirty="0" smtClean="0"/>
                  <a:t>, instead of </a:t>
                </a:r>
                <a14:m>
                  <m:oMath xmlns:m="http://schemas.openxmlformats.org/officeDocument/2006/math">
                    <m:r>
                      <a:rPr lang="en-US" i="1">
                        <a:latin typeface="Cambria Math" panose="02040503050406030204" pitchFamily="18" charset="0"/>
                      </a:rPr>
                      <m:t>𝑐</m:t>
                    </m:r>
                    <m:r>
                      <a:rPr lang="en-US">
                        <a:latin typeface="Cambria Math" panose="02040503050406030204" pitchFamily="18" charset="0"/>
                      </a:rPr>
                      <m:t>=</m:t>
                    </m:r>
                    <m:d>
                      <m:dPr>
                        <m:ctrlPr>
                          <a:rPr lang="en-US" i="1">
                            <a:latin typeface="Cambria Math" panose="02040503050406030204" pitchFamily="18" charset="0"/>
                          </a:rPr>
                        </m:ctrlPr>
                      </m:dPr>
                      <m:e>
                        <m:r>
                          <a:rPr lang="en-US">
                            <a:latin typeface="Cambria Math" panose="02040503050406030204" pitchFamily="18" charset="0"/>
                          </a:rPr>
                          <m:t>0.6544</m:t>
                        </m:r>
                        <m:r>
                          <a:rPr lang="en-US" i="1">
                            <a:latin typeface="Cambria Math" panose="02040503050406030204" pitchFamily="18" charset="0"/>
                          </a:rPr>
                          <m:t>𝑇</m:t>
                        </m:r>
                        <m:r>
                          <a:rPr lang="en-US">
                            <a:latin typeface="Cambria Math" panose="02040503050406030204" pitchFamily="18" charset="0"/>
                          </a:rPr>
                          <m:t>−0.6510</m:t>
                        </m:r>
                      </m:e>
                    </m:d>
                    <m:r>
                      <a:rPr lang="en-US">
                        <a:latin typeface="Cambria Math" panose="02040503050406030204" pitchFamily="18" charset="0"/>
                      </a:rPr>
                      <m:t>×</m:t>
                    </m:r>
                    <m:sSup>
                      <m:sSupPr>
                        <m:ctrlPr>
                          <a:rPr lang="en-US" i="1">
                            <a:latin typeface="Cambria Math" panose="02040503050406030204" pitchFamily="18" charset="0"/>
                          </a:rPr>
                        </m:ctrlPr>
                      </m:sSupPr>
                      <m:e>
                        <m:r>
                          <a:rPr lang="en-US">
                            <a:latin typeface="Cambria Math" panose="02040503050406030204" pitchFamily="18" charset="0"/>
                          </a:rPr>
                          <m:t>10</m:t>
                        </m:r>
                      </m:e>
                      <m:sup>
                        <m:r>
                          <a:rPr lang="en-US">
                            <a:latin typeface="Cambria Math" panose="02040503050406030204" pitchFamily="18" charset="0"/>
                          </a:rPr>
                          <m:t>−16</m:t>
                        </m:r>
                      </m:sup>
                    </m:sSup>
                  </m:oMath>
                </a14:m>
                <a:r>
                  <a:rPr lang="en-US" dirty="0" smtClean="0"/>
                  <a:t> </a:t>
                </a:r>
              </a:p>
              <a:p>
                <a:pPr lvl="1"/>
                <a:r>
                  <a:rPr lang="en-US" dirty="0" smtClean="0"/>
                  <a:t>Unclear interpolation</a:t>
                </a:r>
              </a:p>
              <a:p>
                <a:pPr lvl="2"/>
                <a:r>
                  <a:rPr lang="en-US" sz="1400" dirty="0">
                    <a:latin typeface="Consolas" panose="020B0609020204030204" pitchFamily="49" charset="0"/>
                    <a:cs typeface="Consolas" panose="020B0609020204030204" pitchFamily="49" charset="0"/>
                  </a:rPr>
                  <a:t>Lin *= mix(vec3(1.0),pow(</a:t>
                </a:r>
                <a:r>
                  <a:rPr lang="en-US" sz="1400" dirty="0" err="1">
                    <a:latin typeface="Consolas" panose="020B0609020204030204" pitchFamily="49" charset="0"/>
                    <a:cs typeface="Consolas" panose="020B0609020204030204" pitchFamily="49" charset="0"/>
                  </a:rPr>
                  <a:t>sunE</a:t>
                </a:r>
                <a:r>
                  <a:rPr lang="en-US" sz="1400" dirty="0">
                    <a:latin typeface="Consolas" panose="020B0609020204030204" pitchFamily="49" charset="0"/>
                    <a:cs typeface="Consolas" panose="020B0609020204030204" pitchFamily="49" charset="0"/>
                  </a:rPr>
                  <a:t> * ((</a:t>
                </a:r>
                <a:r>
                  <a:rPr lang="en-US" sz="1400" dirty="0" err="1">
                    <a:latin typeface="Consolas" panose="020B0609020204030204" pitchFamily="49" charset="0"/>
                    <a:cs typeface="Consolas" panose="020B0609020204030204" pitchFamily="49" charset="0"/>
                  </a:rPr>
                  <a:t>betaRTheta</a:t>
                </a:r>
                <a:r>
                  <a:rPr lang="en-US" sz="1400" dirty="0">
                    <a:latin typeface="Consolas" panose="020B0609020204030204" pitchFamily="49" charset="0"/>
                    <a:cs typeface="Consolas" panose="020B0609020204030204" pitchFamily="49" charset="0"/>
                  </a:rPr>
                  <a:t> + </a:t>
                </a:r>
                <a:r>
                  <a:rPr lang="en-US" sz="1400" dirty="0" err="1">
                    <a:latin typeface="Consolas" panose="020B0609020204030204" pitchFamily="49" charset="0"/>
                    <a:cs typeface="Consolas" panose="020B0609020204030204" pitchFamily="49" charset="0"/>
                  </a:rPr>
                  <a:t>betaMTheta</a:t>
                </a:r>
                <a:r>
                  <a:rPr lang="en-US" sz="1400" dirty="0">
                    <a:latin typeface="Consolas" panose="020B0609020204030204" pitchFamily="49" charset="0"/>
                    <a:cs typeface="Consolas" panose="020B0609020204030204" pitchFamily="49" charset="0"/>
                  </a:rPr>
                  <a:t>) / (</a:t>
                </a:r>
                <a:r>
                  <a:rPr lang="en-US" sz="1400" dirty="0" err="1">
                    <a:latin typeface="Consolas" panose="020B0609020204030204" pitchFamily="49" charset="0"/>
                    <a:cs typeface="Consolas" panose="020B0609020204030204" pitchFamily="49" charset="0"/>
                  </a:rPr>
                  <a:t>betaR</a:t>
                </a:r>
                <a:r>
                  <a:rPr lang="en-US" sz="1400" dirty="0">
                    <a:latin typeface="Consolas" panose="020B0609020204030204" pitchFamily="49" charset="0"/>
                    <a:cs typeface="Consolas" panose="020B0609020204030204" pitchFamily="49" charset="0"/>
                  </a:rPr>
                  <a:t> + </a:t>
                </a:r>
                <a:r>
                  <a:rPr lang="en-US" sz="1400" dirty="0" err="1">
                    <a:latin typeface="Consolas" panose="020B0609020204030204" pitchFamily="49" charset="0"/>
                    <a:cs typeface="Consolas" panose="020B0609020204030204" pitchFamily="49" charset="0"/>
                  </a:rPr>
                  <a:t>betaM</a:t>
                </a:r>
                <a:r>
                  <a:rPr lang="en-US" sz="1400" dirty="0">
                    <a:latin typeface="Consolas" panose="020B0609020204030204" pitchFamily="49" charset="0"/>
                    <a:cs typeface="Consolas" panose="020B0609020204030204" pitchFamily="49" charset="0"/>
                  </a:rPr>
                  <a:t>)) * Fex,vec3(1.0/2.0)),clamp(pow(1.0-dot(up, </a:t>
                </a:r>
                <a:r>
                  <a:rPr lang="en-US" sz="1400" dirty="0" err="1">
                    <a:latin typeface="Consolas" panose="020B0609020204030204" pitchFamily="49" charset="0"/>
                    <a:cs typeface="Consolas" panose="020B0609020204030204" pitchFamily="49" charset="0"/>
                  </a:rPr>
                  <a:t>sunDirection</a:t>
                </a:r>
                <a:r>
                  <a:rPr lang="en-US" sz="1400" dirty="0">
                    <a:latin typeface="Consolas" panose="020B0609020204030204" pitchFamily="49" charset="0"/>
                    <a:cs typeface="Consolas" panose="020B0609020204030204" pitchFamily="49" charset="0"/>
                  </a:rPr>
                  <a:t>),5.0),0.0,1.0</a:t>
                </a:r>
                <a:r>
                  <a:rPr lang="en-US" sz="1400" dirty="0" smtClean="0">
                    <a:latin typeface="Consolas" panose="020B0609020204030204" pitchFamily="49" charset="0"/>
                    <a:cs typeface="Consolas" panose="020B0609020204030204" pitchFamily="49" charset="0"/>
                  </a:rPr>
                  <a:t>))</a:t>
                </a:r>
              </a:p>
              <a:p>
                <a:r>
                  <a:rPr lang="en-US" dirty="0" smtClean="0"/>
                  <a:t>Added:</a:t>
                </a:r>
              </a:p>
              <a:p>
                <a:pPr lvl="1"/>
                <a:r>
                  <a:rPr lang="en-US" dirty="0" smtClean="0"/>
                  <a:t>By a suggestion in Wallner’s post, added interpolation for more vibrant reds</a:t>
                </a:r>
              </a:p>
              <a:p>
                <a:pPr lvl="2"/>
                <a:r>
                  <a:rPr lang="en-US" sz="1200" dirty="0" err="1">
                    <a:latin typeface="Consolas" panose="020B0609020204030204" pitchFamily="49" charset="0"/>
                    <a:cs typeface="Consolas" panose="020B0609020204030204" pitchFamily="49" charset="0"/>
                  </a:rPr>
                  <a:t>F</a:t>
                </a:r>
                <a:r>
                  <a:rPr lang="en-US" sz="1400" dirty="0" err="1">
                    <a:latin typeface="Consolas" panose="020B0609020204030204" pitchFamily="49" charset="0"/>
                    <a:cs typeface="Consolas" panose="020B0609020204030204" pitchFamily="49" charset="0"/>
                  </a:rPr>
                  <a:t>ex</a:t>
                </a:r>
                <a:r>
                  <a:rPr lang="en-US" sz="1400" dirty="0">
                    <a:latin typeface="Consolas" panose="020B0609020204030204" pitchFamily="49" charset="0"/>
                    <a:cs typeface="Consolas" panose="020B0609020204030204" pitchFamily="49" charset="0"/>
                  </a:rPr>
                  <a:t> = mix(1.0 - </a:t>
                </a:r>
                <a:r>
                  <a:rPr lang="en-US" sz="1400" dirty="0" err="1">
                    <a:latin typeface="Consolas" panose="020B0609020204030204" pitchFamily="49" charset="0"/>
                    <a:cs typeface="Consolas" panose="020B0609020204030204" pitchFamily="49" charset="0"/>
                  </a:rPr>
                  <a:t>Fex</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Fex</a:t>
                </a:r>
                <a:r>
                  <a:rPr lang="en-US" sz="1400" dirty="0">
                    <a:latin typeface="Consolas" panose="020B0609020204030204" pitchFamily="49" charset="0"/>
                    <a:cs typeface="Consolas" panose="020B0609020204030204" pitchFamily="49" charset="0"/>
                  </a:rPr>
                  <a:t>, abs(</a:t>
                </a:r>
                <a:r>
                  <a:rPr lang="en-US" sz="1400" dirty="0" err="1">
                    <a:latin typeface="Consolas" panose="020B0609020204030204" pitchFamily="49" charset="0"/>
                    <a:cs typeface="Consolas" panose="020B0609020204030204" pitchFamily="49" charset="0"/>
                  </a:rPr>
                  <a:t>sunDirection.y</a:t>
                </a:r>
                <a:r>
                  <a:rPr lang="en-US" sz="1400" dirty="0" smtClean="0">
                    <a:latin typeface="Consolas" panose="020B0609020204030204" pitchFamily="49" charset="0"/>
                    <a:cs typeface="Consolas" panose="020B0609020204030204" pitchFamily="49" charset="0"/>
                  </a:rPr>
                  <a:t>))</a:t>
                </a:r>
              </a:p>
              <a:p>
                <a:pPr lvl="1"/>
                <a:r>
                  <a:rPr lang="en-US" dirty="0" smtClean="0">
                    <a:latin typeface="+mn-lt"/>
                    <a:cs typeface="Consolas" panose="020B0609020204030204" pitchFamily="49" charset="0"/>
                  </a:rPr>
                  <a:t>Wallner’s use of </a:t>
                </a:r>
                <a14:m>
                  <m:oMath xmlns:m="http://schemas.openxmlformats.org/officeDocument/2006/math">
                    <m:sSub>
                      <m:sSubPr>
                        <m:ctrlPr>
                          <a:rPr lang="en-US" b="0" i="1" smtClean="0">
                            <a:latin typeface="Cambria Math" panose="02040503050406030204" pitchFamily="18" charset="0"/>
                            <a:cs typeface="Consolas" panose="020B0609020204030204" pitchFamily="49" charset="0"/>
                          </a:rPr>
                        </m:ctrlPr>
                      </m:sSubPr>
                      <m:e>
                        <m:r>
                          <a:rPr lang="en-US" b="0" i="1" smtClean="0">
                            <a:latin typeface="Cambria Math" panose="02040503050406030204" pitchFamily="18" charset="0"/>
                            <a:cs typeface="Consolas" panose="020B0609020204030204" pitchFamily="49" charset="0"/>
                          </a:rPr>
                          <m:t>𝐿</m:t>
                        </m:r>
                      </m:e>
                      <m:sub>
                        <m:r>
                          <a:rPr lang="en-US" b="0" i="1" smtClean="0">
                            <a:latin typeface="Cambria Math" panose="02040503050406030204" pitchFamily="18" charset="0"/>
                            <a:cs typeface="Consolas" panose="020B0609020204030204" pitchFamily="49" charset="0"/>
                          </a:rPr>
                          <m:t>0</m:t>
                        </m:r>
                      </m:sub>
                    </m:sSub>
                  </m:oMath>
                </a14:m>
                <a:r>
                  <a:rPr lang="en-US" dirty="0" smtClean="0">
                    <a:latin typeface="+mn-lt"/>
                    <a:cs typeface="Consolas" panose="020B0609020204030204" pitchFamily="49" charset="0"/>
                  </a:rPr>
                  <a:t> (not Koo’s)</a:t>
                </a:r>
              </a:p>
              <a:p>
                <a:pPr lvl="2"/>
                <a:r>
                  <a:rPr lang="en-US" sz="1400" dirty="0" smtClean="0">
                    <a:latin typeface="Consolas" panose="020B0609020204030204" pitchFamily="49" charset="0"/>
                    <a:cs typeface="Consolas" panose="020B0609020204030204" pitchFamily="49" charset="0"/>
                  </a:rPr>
                  <a:t>L0 = texture2D(</a:t>
                </a:r>
                <a:r>
                  <a:rPr lang="en-US" sz="1400" dirty="0" err="1" smtClean="0">
                    <a:latin typeface="Consolas" panose="020B0609020204030204" pitchFamily="49" charset="0"/>
                    <a:cs typeface="Consolas" panose="020B0609020204030204" pitchFamily="49" charset="0"/>
                  </a:rPr>
                  <a:t>textureSampler</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vUv</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rgb</a:t>
                </a:r>
                <a:endParaRPr lang="en-US" sz="1400" dirty="0" smtClean="0">
                  <a:latin typeface="Consolas" panose="020B0609020204030204" pitchFamily="49" charset="0"/>
                  <a:cs typeface="Consolas" panose="020B0609020204030204" pitchFamily="49" charset="0"/>
                </a:endParaRPr>
              </a:p>
              <a:p>
                <a:pPr lvl="1"/>
                <a:endParaRPr lang="en-US" dirty="0">
                  <a:latin typeface="Consolas" panose="020B0609020204030204" pitchFamily="49" charset="0"/>
                  <a:cs typeface="Consolas" panose="020B0609020204030204" pitchFamily="49"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32974" y="1505842"/>
                <a:ext cx="10057057" cy="4527636"/>
              </a:xfrm>
              <a:blipFill rotWithShape="0">
                <a:blip r:embed="rId2"/>
                <a:stretch>
                  <a:fillRect l="-242" t="-673" b="-942"/>
                </a:stretch>
              </a:blipFill>
            </p:spPr>
            <p:txBody>
              <a:bodyPr/>
              <a:lstStyle/>
              <a:p>
                <a:r>
                  <a:rPr lang="en-US">
                    <a:noFill/>
                  </a:rPr>
                  <a:t> </a:t>
                </a:r>
              </a:p>
            </p:txBody>
          </p:sp>
        </mc:Fallback>
      </mc:AlternateContent>
    </p:spTree>
    <p:extLst>
      <p:ext uri="{BB962C8B-B14F-4D97-AF65-F5344CB8AC3E}">
        <p14:creationId xmlns:p14="http://schemas.microsoft.com/office/powerpoint/2010/main" val="173911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927" y="327672"/>
            <a:ext cx="9404723" cy="1400530"/>
          </a:xfrm>
        </p:spPr>
        <p:txBody>
          <a:bodyPr/>
          <a:lstStyle/>
          <a:p>
            <a:r>
              <a:rPr lang="en-US" dirty="0" smtClean="0"/>
              <a:t>Joshua Koo vs. Angela Gross</a:t>
            </a:r>
            <a:endParaRPr lang="en-US" dirty="0"/>
          </a:p>
        </p:txBody>
      </p:sp>
      <p:pic>
        <p:nvPicPr>
          <p:cNvPr id="4" name="Picture 3"/>
          <p:cNvPicPr/>
          <p:nvPr/>
        </p:nvPicPr>
        <p:blipFill rotWithShape="1">
          <a:blip r:embed="rId2" cstate="print">
            <a:extLst>
              <a:ext uri="{28A0092B-C50C-407E-A947-70E740481C1C}">
                <a14:useLocalDpi xmlns:a14="http://schemas.microsoft.com/office/drawing/2010/main" val="0"/>
              </a:ext>
            </a:extLst>
          </a:blip>
          <a:srcRect l="16458" t="7924" b="3696"/>
          <a:stretch/>
        </p:blipFill>
        <p:spPr bwMode="auto">
          <a:xfrm>
            <a:off x="1400642" y="1261074"/>
            <a:ext cx="3872729" cy="2643532"/>
          </a:xfrm>
          <a:prstGeom prst="rect">
            <a:avLst/>
          </a:prstGeom>
          <a:ln w="12700">
            <a:solidFill>
              <a:schemeClr val="tx1"/>
            </a:solidFill>
          </a:ln>
          <a:extLst>
            <a:ext uri="{53640926-AAD7-44D8-BBD7-CCE9431645EC}">
              <a14:shadowObscured xmlns:a14="http://schemas.microsoft.com/office/drawing/2010/main"/>
            </a:ext>
          </a:extLst>
        </p:spPr>
      </p:pic>
      <p:pic>
        <p:nvPicPr>
          <p:cNvPr id="5" name="Picture 4"/>
          <p:cNvPicPr/>
          <p:nvPr/>
        </p:nvPicPr>
        <p:blipFill rotWithShape="1">
          <a:blip r:embed="rId3" cstate="print">
            <a:extLst>
              <a:ext uri="{28A0092B-C50C-407E-A947-70E740481C1C}">
                <a14:useLocalDpi xmlns:a14="http://schemas.microsoft.com/office/drawing/2010/main" val="0"/>
              </a:ext>
            </a:extLst>
          </a:blip>
          <a:srcRect l="15634" t="7722" r="230" b="5781"/>
          <a:stretch/>
        </p:blipFill>
        <p:spPr bwMode="auto">
          <a:xfrm>
            <a:off x="5617869" y="1231508"/>
            <a:ext cx="4006524" cy="2657196"/>
          </a:xfrm>
          <a:prstGeom prst="rect">
            <a:avLst/>
          </a:prstGeom>
          <a:ln w="12700">
            <a:solidFill>
              <a:schemeClr val="tx1"/>
            </a:solidFill>
          </a:ln>
          <a:extLst>
            <a:ext uri="{53640926-AAD7-44D8-BBD7-CCE9431645EC}">
              <a14:shadowObscured xmlns:a14="http://schemas.microsoft.com/office/drawing/2010/main"/>
            </a:ext>
          </a:extLst>
        </p:spPr>
      </p:pic>
      <p:pic>
        <p:nvPicPr>
          <p:cNvPr id="6" name="Picture 5"/>
          <p:cNvPicPr/>
          <p:nvPr/>
        </p:nvPicPr>
        <p:blipFill rotWithShape="1">
          <a:blip r:embed="rId4" cstate="print">
            <a:extLst>
              <a:ext uri="{28A0092B-C50C-407E-A947-70E740481C1C}">
                <a14:useLocalDpi xmlns:a14="http://schemas.microsoft.com/office/drawing/2010/main" val="0"/>
              </a:ext>
            </a:extLst>
          </a:blip>
          <a:srcRect l="24115" t="7720" b="16670"/>
          <a:stretch/>
        </p:blipFill>
        <p:spPr bwMode="auto">
          <a:xfrm>
            <a:off x="5617869" y="4001315"/>
            <a:ext cx="3978116" cy="2518450"/>
          </a:xfrm>
          <a:prstGeom prst="rect">
            <a:avLst/>
          </a:prstGeom>
          <a:ln w="12700">
            <a:solidFill>
              <a:schemeClr val="tx1"/>
            </a:solidFill>
          </a:ln>
          <a:extLst>
            <a:ext uri="{53640926-AAD7-44D8-BBD7-CCE9431645EC}">
              <a14:shadowObscured xmlns:a14="http://schemas.microsoft.com/office/drawing/2010/main"/>
            </a:ext>
          </a:extLst>
        </p:spPr>
      </p:pic>
      <p:pic>
        <p:nvPicPr>
          <p:cNvPr id="7" name="Picture 6"/>
          <p:cNvPicPr/>
          <p:nvPr/>
        </p:nvPicPr>
        <p:blipFill rotWithShape="1">
          <a:blip r:embed="rId5" cstate="print">
            <a:extLst>
              <a:ext uri="{28A0092B-C50C-407E-A947-70E740481C1C}">
                <a14:useLocalDpi xmlns:a14="http://schemas.microsoft.com/office/drawing/2010/main" val="0"/>
              </a:ext>
            </a:extLst>
          </a:blip>
          <a:srcRect l="26857" t="7723" b="19311"/>
          <a:stretch/>
        </p:blipFill>
        <p:spPr bwMode="auto">
          <a:xfrm>
            <a:off x="1391445" y="4022337"/>
            <a:ext cx="3881893" cy="2497428"/>
          </a:xfrm>
          <a:prstGeom prst="rect">
            <a:avLst/>
          </a:prstGeom>
          <a:ln w="12700">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1639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145" y="511426"/>
            <a:ext cx="9404723" cy="766482"/>
          </a:xfrm>
        </p:spPr>
        <p:txBody>
          <a:bodyPr/>
          <a:lstStyle/>
          <a:p>
            <a:r>
              <a:rPr lang="en-US" dirty="0" smtClean="0"/>
              <a:t>Analysis</a:t>
            </a:r>
            <a:endParaRPr lang="en-US" dirty="0"/>
          </a:p>
        </p:txBody>
      </p:sp>
      <p:pic>
        <p:nvPicPr>
          <p:cNvPr id="4" name="Picture 3"/>
          <p:cNvPicPr/>
          <p:nvPr/>
        </p:nvPicPr>
        <p:blipFill rotWithShape="1">
          <a:blip r:embed="rId3" cstate="print">
            <a:extLst>
              <a:ext uri="{28A0092B-C50C-407E-A947-70E740481C1C}">
                <a14:useLocalDpi xmlns:a14="http://schemas.microsoft.com/office/drawing/2010/main" val="0"/>
              </a:ext>
            </a:extLst>
          </a:blip>
          <a:srcRect l="12688" t="9849" r="1017" b="27834"/>
          <a:stretch/>
        </p:blipFill>
        <p:spPr bwMode="auto">
          <a:xfrm>
            <a:off x="2261627" y="1780783"/>
            <a:ext cx="1382395" cy="786765"/>
          </a:xfrm>
          <a:prstGeom prst="rect">
            <a:avLst/>
          </a:prstGeom>
          <a:ln w="9525">
            <a:solidFill>
              <a:schemeClr val="tx1"/>
            </a:solidFill>
          </a:ln>
          <a:extLst>
            <a:ext uri="{53640926-AAD7-44D8-BBD7-CCE9431645EC}">
              <a14:shadowObscured xmlns:a14="http://schemas.microsoft.com/office/drawing/2010/main"/>
            </a:ext>
          </a:extLst>
        </p:spPr>
      </p:pic>
      <p:pic>
        <p:nvPicPr>
          <p:cNvPr id="5" name="Picture 4"/>
          <p:cNvPicPr/>
          <p:nvPr/>
        </p:nvPicPr>
        <p:blipFill rotWithShape="1">
          <a:blip r:embed="rId4" cstate="print">
            <a:extLst>
              <a:ext uri="{28A0092B-C50C-407E-A947-70E740481C1C}">
                <a14:useLocalDpi xmlns:a14="http://schemas.microsoft.com/office/drawing/2010/main" val="0"/>
              </a:ext>
            </a:extLst>
          </a:blip>
          <a:srcRect l="12573" t="9994" r="1699" b="26531"/>
          <a:stretch/>
        </p:blipFill>
        <p:spPr bwMode="auto">
          <a:xfrm>
            <a:off x="6352297" y="1788403"/>
            <a:ext cx="1235710" cy="789305"/>
          </a:xfrm>
          <a:prstGeom prst="rect">
            <a:avLst/>
          </a:prstGeom>
          <a:ln w="9525">
            <a:solidFill>
              <a:schemeClr val="tx1"/>
            </a:solidFill>
          </a:ln>
          <a:extLst>
            <a:ext uri="{53640926-AAD7-44D8-BBD7-CCE9431645EC}">
              <a14:shadowObscured xmlns:a14="http://schemas.microsoft.com/office/drawing/2010/main"/>
            </a:ext>
          </a:extLst>
        </p:spPr>
      </p:pic>
      <p:pic>
        <p:nvPicPr>
          <p:cNvPr id="6" name="Picture 5"/>
          <p:cNvPicPr/>
          <p:nvPr/>
        </p:nvPicPr>
        <p:blipFill rotWithShape="1">
          <a:blip r:embed="rId5" cstate="print">
            <a:extLst>
              <a:ext uri="{28A0092B-C50C-407E-A947-70E740481C1C}">
                <a14:useLocalDpi xmlns:a14="http://schemas.microsoft.com/office/drawing/2010/main" val="0"/>
              </a:ext>
            </a:extLst>
          </a:blip>
          <a:srcRect l="15089" t="9851" r="1358" b="23719"/>
          <a:stretch/>
        </p:blipFill>
        <p:spPr bwMode="auto">
          <a:xfrm>
            <a:off x="3703077" y="1780783"/>
            <a:ext cx="1243330" cy="796925"/>
          </a:xfrm>
          <a:prstGeom prst="rect">
            <a:avLst/>
          </a:prstGeom>
          <a:ln w="9525">
            <a:solidFill>
              <a:schemeClr val="tx1"/>
            </a:solidFill>
          </a:ln>
          <a:extLst>
            <a:ext uri="{53640926-AAD7-44D8-BBD7-CCE9431645EC}">
              <a14:shadowObscured xmlns:a14="http://schemas.microsoft.com/office/drawing/2010/main"/>
            </a:ext>
          </a:extLst>
        </p:spPr>
      </p:pic>
      <p:pic>
        <p:nvPicPr>
          <p:cNvPr id="7" name="Picture 6"/>
          <p:cNvPicPr/>
          <p:nvPr/>
        </p:nvPicPr>
        <p:blipFill rotWithShape="1">
          <a:blip r:embed="rId6" cstate="print">
            <a:extLst>
              <a:ext uri="{28A0092B-C50C-407E-A947-70E740481C1C}">
                <a14:useLocalDpi xmlns:a14="http://schemas.microsoft.com/office/drawing/2010/main" val="0"/>
              </a:ext>
            </a:extLst>
          </a:blip>
          <a:srcRect l="2401" t="10143" r="1122" b="9462"/>
          <a:stretch/>
        </p:blipFill>
        <p:spPr bwMode="auto">
          <a:xfrm>
            <a:off x="7658492" y="1788403"/>
            <a:ext cx="1221105" cy="796925"/>
          </a:xfrm>
          <a:prstGeom prst="rect">
            <a:avLst/>
          </a:prstGeom>
          <a:ln w="9525">
            <a:solidFill>
              <a:schemeClr val="tx1"/>
            </a:solidFill>
          </a:ln>
          <a:extLst>
            <a:ext uri="{53640926-AAD7-44D8-BBD7-CCE9431645EC}">
              <a14:shadowObscured xmlns:a14="http://schemas.microsoft.com/office/drawing/2010/main"/>
            </a:ext>
          </a:extLst>
        </p:spPr>
      </p:pic>
      <p:sp>
        <p:nvSpPr>
          <p:cNvPr id="8" name="Text Box 20"/>
          <p:cNvSpPr txBox="1"/>
          <p:nvPr/>
        </p:nvSpPr>
        <p:spPr>
          <a:xfrm>
            <a:off x="2363275" y="2638033"/>
            <a:ext cx="6297930" cy="482600"/>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marL="0" marR="0" algn="ctr">
              <a:lnSpc>
                <a:spcPct val="105000"/>
              </a:lnSpc>
              <a:spcBef>
                <a:spcPts val="0"/>
              </a:spcBef>
              <a:spcAft>
                <a:spcPts val="800"/>
              </a:spcAft>
            </a:pPr>
            <a:r>
              <a:rPr lang="en-US" sz="1400" b="0" dirty="0" smtClean="0">
                <a:effectLst/>
                <a:ea typeface="Times New Roman" panose="02020603050405020304" pitchFamily="18" charset="0"/>
                <a:cs typeface="Times New Roman" panose="02020603050405020304" pitchFamily="18" charset="0"/>
              </a:rPr>
              <a:t>Figure 1 - 5: From </a:t>
            </a:r>
            <a:r>
              <a:rPr lang="en-US" sz="1400" b="0" dirty="0">
                <a:effectLst/>
                <a:ea typeface="Times New Roman" panose="02020603050405020304" pitchFamily="18" charset="0"/>
                <a:cs typeface="Times New Roman" panose="02020603050405020304" pitchFamily="18" charset="0"/>
              </a:rPr>
              <a:t>left to right: Turbidities 1.0, 1.2, 1.4, 3.1, 7.8, and 20.0</a:t>
            </a:r>
            <a:endParaRPr lang="en-US" sz="1200" b="1" dirty="0">
              <a:effectLst/>
              <a:ea typeface="Times New Roman" panose="02020603050405020304" pitchFamily="18" charset="0"/>
              <a:cs typeface="Times New Roman" panose="02020603050405020304" pitchFamily="18" charset="0"/>
            </a:endParaRPr>
          </a:p>
        </p:txBody>
      </p:sp>
      <p:pic>
        <p:nvPicPr>
          <p:cNvPr id="9" name="Picture 8"/>
          <p:cNvPicPr/>
          <p:nvPr/>
        </p:nvPicPr>
        <p:blipFill rotWithShape="1">
          <a:blip r:embed="rId7" cstate="print">
            <a:extLst>
              <a:ext uri="{28A0092B-C50C-407E-A947-70E740481C1C}">
                <a14:useLocalDpi xmlns:a14="http://schemas.microsoft.com/office/drawing/2010/main" val="0"/>
              </a:ext>
            </a:extLst>
          </a:blip>
          <a:srcRect l="914" t="10143" r="1714" b="6376"/>
          <a:stretch/>
        </p:blipFill>
        <p:spPr bwMode="auto">
          <a:xfrm>
            <a:off x="4995302" y="1780783"/>
            <a:ext cx="1291590" cy="796925"/>
          </a:xfrm>
          <a:prstGeom prst="rect">
            <a:avLst/>
          </a:prstGeom>
          <a:ln w="9525">
            <a:solidFill>
              <a:schemeClr val="tx1"/>
            </a:solidFill>
          </a:ln>
          <a:extLst>
            <a:ext uri="{53640926-AAD7-44D8-BBD7-CCE9431645EC}">
              <a14:shadowObscured xmlns:a14="http://schemas.microsoft.com/office/drawing/2010/main"/>
            </a:ext>
          </a:extLst>
        </p:spPr>
      </p:pic>
      <p:pic>
        <p:nvPicPr>
          <p:cNvPr id="10" name="Picture 9"/>
          <p:cNvPicPr/>
          <p:nvPr/>
        </p:nvPicPr>
        <p:blipFill rotWithShape="1">
          <a:blip r:embed="rId8" cstate="print">
            <a:extLst>
              <a:ext uri="{28A0092B-C50C-407E-A947-70E740481C1C}">
                <a14:useLocalDpi xmlns:a14="http://schemas.microsoft.com/office/drawing/2010/main" val="0"/>
              </a:ext>
            </a:extLst>
          </a:blip>
          <a:srcRect l="1943" t="9704" r="1700" b="19751"/>
          <a:stretch/>
        </p:blipFill>
        <p:spPr bwMode="auto">
          <a:xfrm>
            <a:off x="2143077" y="3084729"/>
            <a:ext cx="1675130" cy="952500"/>
          </a:xfrm>
          <a:prstGeom prst="rect">
            <a:avLst/>
          </a:prstGeom>
          <a:ln w="9525">
            <a:solidFill>
              <a:schemeClr val="tx1"/>
            </a:solidFill>
          </a:ln>
          <a:extLst>
            <a:ext uri="{53640926-AAD7-44D8-BBD7-CCE9431645EC}">
              <a14:shadowObscured xmlns:a14="http://schemas.microsoft.com/office/drawing/2010/main"/>
            </a:ext>
          </a:extLst>
        </p:spPr>
      </p:pic>
      <p:pic>
        <p:nvPicPr>
          <p:cNvPr id="11" name="Picture 10"/>
          <p:cNvPicPr/>
          <p:nvPr/>
        </p:nvPicPr>
        <p:blipFill rotWithShape="1">
          <a:blip r:embed="rId9" cstate="print">
            <a:extLst>
              <a:ext uri="{28A0092B-C50C-407E-A947-70E740481C1C}">
                <a14:useLocalDpi xmlns:a14="http://schemas.microsoft.com/office/drawing/2010/main" val="0"/>
              </a:ext>
            </a:extLst>
          </a:blip>
          <a:srcRect l="914" t="10143" r="1714" b="6376"/>
          <a:stretch/>
        </p:blipFill>
        <p:spPr bwMode="auto">
          <a:xfrm>
            <a:off x="3867102" y="3089174"/>
            <a:ext cx="1682115" cy="933450"/>
          </a:xfrm>
          <a:prstGeom prst="rect">
            <a:avLst/>
          </a:prstGeom>
          <a:ln w="9525">
            <a:solidFill>
              <a:schemeClr val="tx1"/>
            </a:solidFill>
          </a:ln>
          <a:extLst>
            <a:ext uri="{53640926-AAD7-44D8-BBD7-CCE9431645EC}">
              <a14:shadowObscured xmlns:a14="http://schemas.microsoft.com/office/drawing/2010/main"/>
            </a:ext>
          </a:extLst>
        </p:spPr>
      </p:pic>
      <p:pic>
        <p:nvPicPr>
          <p:cNvPr id="12" name="Picture 11"/>
          <p:cNvPicPr/>
          <p:nvPr/>
        </p:nvPicPr>
        <p:blipFill rotWithShape="1">
          <a:blip r:embed="rId10" cstate="print">
            <a:extLst>
              <a:ext uri="{28A0092B-C50C-407E-A947-70E740481C1C}">
                <a14:useLocalDpi xmlns:a14="http://schemas.microsoft.com/office/drawing/2010/main" val="0"/>
              </a:ext>
            </a:extLst>
          </a:blip>
          <a:srcRect l="8916" t="9556" r="1592" b="22985"/>
          <a:stretch/>
        </p:blipFill>
        <p:spPr bwMode="auto">
          <a:xfrm>
            <a:off x="5625417" y="3097429"/>
            <a:ext cx="1543050" cy="944880"/>
          </a:xfrm>
          <a:prstGeom prst="rect">
            <a:avLst/>
          </a:prstGeom>
          <a:ln w="9525">
            <a:solidFill>
              <a:schemeClr val="tx1"/>
            </a:solidFill>
          </a:ln>
          <a:extLst>
            <a:ext uri="{53640926-AAD7-44D8-BBD7-CCE9431645EC}">
              <a14:shadowObscured xmlns:a14="http://schemas.microsoft.com/office/drawing/2010/main"/>
            </a:ext>
          </a:extLst>
        </p:spPr>
      </p:pic>
      <p:pic>
        <p:nvPicPr>
          <p:cNvPr id="13" name="Picture 12"/>
          <p:cNvPicPr/>
          <p:nvPr/>
        </p:nvPicPr>
        <p:blipFill rotWithShape="1">
          <a:blip r:embed="rId11" cstate="print">
            <a:extLst>
              <a:ext uri="{28A0092B-C50C-407E-A947-70E740481C1C}">
                <a14:useLocalDpi xmlns:a14="http://schemas.microsoft.com/office/drawing/2010/main" val="0"/>
              </a:ext>
            </a:extLst>
          </a:blip>
          <a:srcRect l="8687" t="10437" r="1461" b="23866"/>
          <a:stretch/>
        </p:blipFill>
        <p:spPr bwMode="auto">
          <a:xfrm>
            <a:off x="7217997" y="3084729"/>
            <a:ext cx="1660525" cy="943610"/>
          </a:xfrm>
          <a:prstGeom prst="rect">
            <a:avLst/>
          </a:prstGeom>
          <a:ln w="9525">
            <a:solidFill>
              <a:schemeClr val="tx1"/>
            </a:solidFill>
          </a:ln>
          <a:extLst>
            <a:ext uri="{53640926-AAD7-44D8-BBD7-CCE9431645EC}">
              <a14:shadowObscured xmlns:a14="http://schemas.microsoft.com/office/drawing/2010/main"/>
            </a:ext>
          </a:extLst>
        </p:spPr>
      </p:pic>
      <p:sp>
        <p:nvSpPr>
          <p:cNvPr id="14" name="Text Box 26"/>
          <p:cNvSpPr txBox="1"/>
          <p:nvPr/>
        </p:nvSpPr>
        <p:spPr>
          <a:xfrm>
            <a:off x="2348182" y="4055644"/>
            <a:ext cx="6400800" cy="548640"/>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marL="0" marR="0" algn="ctr">
              <a:lnSpc>
                <a:spcPct val="105000"/>
              </a:lnSpc>
              <a:spcBef>
                <a:spcPts val="0"/>
              </a:spcBef>
              <a:spcAft>
                <a:spcPts val="800"/>
              </a:spcAft>
            </a:pPr>
            <a:r>
              <a:rPr lang="en-US" sz="1400" b="0" dirty="0">
                <a:effectLst/>
                <a:ea typeface="Times New Roman" panose="02020603050405020304" pitchFamily="18" charset="0"/>
                <a:cs typeface="Times New Roman" panose="02020603050405020304" pitchFamily="18" charset="0"/>
              </a:rPr>
              <a:t>Figures </a:t>
            </a:r>
            <a:r>
              <a:rPr lang="en-US" sz="1400" dirty="0" smtClean="0">
                <a:ea typeface="Times New Roman" panose="02020603050405020304" pitchFamily="18" charset="0"/>
                <a:cs typeface="Times New Roman" panose="02020603050405020304" pitchFamily="18" charset="0"/>
              </a:rPr>
              <a:t>6</a:t>
            </a:r>
            <a:r>
              <a:rPr lang="en-US" sz="1400" b="0" dirty="0" smtClean="0">
                <a:effectLst/>
                <a:ea typeface="Times New Roman" panose="02020603050405020304" pitchFamily="18" charset="0"/>
                <a:cs typeface="Times New Roman" panose="02020603050405020304" pitchFamily="18" charset="0"/>
              </a:rPr>
              <a:t>-9: </a:t>
            </a:r>
            <a:r>
              <a:rPr lang="en-US" sz="1400" b="0" dirty="0">
                <a:effectLst/>
                <a:ea typeface="Times New Roman" panose="02020603050405020304" pitchFamily="18" charset="0"/>
                <a:cs typeface="Times New Roman" panose="02020603050405020304" pitchFamily="18" charset="0"/>
              </a:rPr>
              <a:t>From left to right: Rayleigh Coefficients 0.0, 0.3, 1.3, and 4.0</a:t>
            </a:r>
            <a:endParaRPr lang="en-US" sz="1200" b="1" dirty="0">
              <a:effectLst/>
              <a:ea typeface="Times New Roman" panose="02020603050405020304" pitchFamily="18" charset="0"/>
              <a:cs typeface="Times New Roman" panose="02020603050405020304" pitchFamily="18" charset="0"/>
            </a:endParaRPr>
          </a:p>
        </p:txBody>
      </p:sp>
      <p:pic>
        <p:nvPicPr>
          <p:cNvPr id="15" name="Picture 14"/>
          <p:cNvPicPr/>
          <p:nvPr/>
        </p:nvPicPr>
        <p:blipFill rotWithShape="1">
          <a:blip r:embed="rId12" cstate="print">
            <a:extLst>
              <a:ext uri="{28A0092B-C50C-407E-A947-70E740481C1C}">
                <a14:useLocalDpi xmlns:a14="http://schemas.microsoft.com/office/drawing/2010/main" val="0"/>
              </a:ext>
            </a:extLst>
          </a:blip>
          <a:srcRect l="-587" t="9848" r="1687" b="13701"/>
          <a:stretch/>
        </p:blipFill>
        <p:spPr bwMode="auto">
          <a:xfrm>
            <a:off x="2194512" y="4489005"/>
            <a:ext cx="1688465" cy="940435"/>
          </a:xfrm>
          <a:prstGeom prst="rect">
            <a:avLst/>
          </a:prstGeom>
          <a:ln w="9525">
            <a:solidFill>
              <a:schemeClr val="tx1"/>
            </a:solidFill>
          </a:ln>
          <a:extLst>
            <a:ext uri="{53640926-AAD7-44D8-BBD7-CCE9431645EC}">
              <a14:shadowObscured xmlns:a14="http://schemas.microsoft.com/office/drawing/2010/main"/>
            </a:ext>
          </a:extLst>
        </p:spPr>
      </p:pic>
      <p:pic>
        <p:nvPicPr>
          <p:cNvPr id="16" name="Picture 15"/>
          <p:cNvPicPr/>
          <p:nvPr/>
        </p:nvPicPr>
        <p:blipFill rotWithShape="1">
          <a:blip r:embed="rId9" cstate="print">
            <a:extLst>
              <a:ext uri="{28A0092B-C50C-407E-A947-70E740481C1C}">
                <a14:useLocalDpi xmlns:a14="http://schemas.microsoft.com/office/drawing/2010/main" val="0"/>
              </a:ext>
            </a:extLst>
          </a:blip>
          <a:srcRect l="914" t="10143" r="1714" b="6376"/>
          <a:stretch/>
        </p:blipFill>
        <p:spPr bwMode="auto">
          <a:xfrm>
            <a:off x="3935047" y="4504880"/>
            <a:ext cx="1682115" cy="933450"/>
          </a:xfrm>
          <a:prstGeom prst="rect">
            <a:avLst/>
          </a:prstGeom>
          <a:ln w="9525">
            <a:solidFill>
              <a:schemeClr val="tx1"/>
            </a:solidFill>
          </a:ln>
          <a:extLst>
            <a:ext uri="{53640926-AAD7-44D8-BBD7-CCE9431645EC}">
              <a14:shadowObscured xmlns:a14="http://schemas.microsoft.com/office/drawing/2010/main"/>
            </a:ext>
          </a:extLst>
        </p:spPr>
      </p:pic>
      <p:pic>
        <p:nvPicPr>
          <p:cNvPr id="17" name="Picture 16"/>
          <p:cNvPicPr/>
          <p:nvPr/>
        </p:nvPicPr>
        <p:blipFill rotWithShape="1">
          <a:blip r:embed="rId13" cstate="print">
            <a:extLst>
              <a:ext uri="{28A0092B-C50C-407E-A947-70E740481C1C}">
                <a14:useLocalDpi xmlns:a14="http://schemas.microsoft.com/office/drawing/2010/main" val="0"/>
              </a:ext>
            </a:extLst>
          </a:blip>
          <a:srcRect l="2972" t="9997" r="1361" b="13578"/>
          <a:stretch/>
        </p:blipFill>
        <p:spPr bwMode="auto">
          <a:xfrm>
            <a:off x="5681932" y="4511865"/>
            <a:ext cx="1536065" cy="935990"/>
          </a:xfrm>
          <a:prstGeom prst="rect">
            <a:avLst/>
          </a:prstGeom>
          <a:ln w="9525">
            <a:solidFill>
              <a:schemeClr val="tx1"/>
            </a:solidFill>
          </a:ln>
          <a:extLst>
            <a:ext uri="{53640926-AAD7-44D8-BBD7-CCE9431645EC}">
              <a14:shadowObscured xmlns:a14="http://schemas.microsoft.com/office/drawing/2010/main"/>
            </a:ext>
          </a:extLst>
        </p:spPr>
      </p:pic>
      <p:pic>
        <p:nvPicPr>
          <p:cNvPr id="18" name="Picture 17"/>
          <p:cNvPicPr/>
          <p:nvPr/>
        </p:nvPicPr>
        <p:blipFill rotWithShape="1">
          <a:blip r:embed="rId14" cstate="print">
            <a:extLst>
              <a:ext uri="{28A0092B-C50C-407E-A947-70E740481C1C}">
                <a14:useLocalDpi xmlns:a14="http://schemas.microsoft.com/office/drawing/2010/main" val="0"/>
              </a:ext>
            </a:extLst>
          </a:blip>
          <a:srcRect l="1714" t="9998" r="1245" b="8433"/>
          <a:stretch/>
        </p:blipFill>
        <p:spPr bwMode="auto">
          <a:xfrm>
            <a:off x="7245937" y="4504245"/>
            <a:ext cx="1682115" cy="950595"/>
          </a:xfrm>
          <a:prstGeom prst="rect">
            <a:avLst/>
          </a:prstGeom>
          <a:ln w="9525">
            <a:solidFill>
              <a:schemeClr val="tx1"/>
            </a:solidFill>
          </a:ln>
          <a:extLst>
            <a:ext uri="{53640926-AAD7-44D8-BBD7-CCE9431645EC}">
              <a14:shadowObscured xmlns:a14="http://schemas.microsoft.com/office/drawing/2010/main"/>
            </a:ext>
          </a:extLst>
        </p:spPr>
      </p:pic>
      <p:sp>
        <p:nvSpPr>
          <p:cNvPr id="19" name="Text Box 31"/>
          <p:cNvSpPr txBox="1"/>
          <p:nvPr/>
        </p:nvSpPr>
        <p:spPr>
          <a:xfrm>
            <a:off x="2375487" y="5500560"/>
            <a:ext cx="6400800" cy="511810"/>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marL="0" marR="0" algn="ctr">
              <a:lnSpc>
                <a:spcPct val="105000"/>
              </a:lnSpc>
              <a:spcBef>
                <a:spcPts val="0"/>
              </a:spcBef>
              <a:spcAft>
                <a:spcPts val="800"/>
              </a:spcAft>
            </a:pPr>
            <a:r>
              <a:rPr lang="en-US" sz="1400" b="0" dirty="0">
                <a:effectLst/>
                <a:ea typeface="Times New Roman" panose="02020603050405020304" pitchFamily="18" charset="0"/>
                <a:cs typeface="Times New Roman" panose="02020603050405020304" pitchFamily="18" charset="0"/>
              </a:rPr>
              <a:t>Figures </a:t>
            </a:r>
            <a:r>
              <a:rPr lang="en-US" sz="1400" b="0" dirty="0" smtClean="0">
                <a:effectLst/>
                <a:ea typeface="Times New Roman" panose="02020603050405020304" pitchFamily="18" charset="0"/>
                <a:cs typeface="Times New Roman" panose="02020603050405020304" pitchFamily="18" charset="0"/>
              </a:rPr>
              <a:t>10-13: </a:t>
            </a:r>
            <a:r>
              <a:rPr lang="en-US" sz="1400" b="0" dirty="0">
                <a:effectLst/>
                <a:ea typeface="Times New Roman" panose="02020603050405020304" pitchFamily="18" charset="0"/>
                <a:cs typeface="Times New Roman" panose="02020603050405020304" pitchFamily="18" charset="0"/>
              </a:rPr>
              <a:t>From left to right: Mie Coefficients 0.0, 0.017, 0.043, and 0.1</a:t>
            </a:r>
            <a:endParaRPr lang="en-US" sz="1200" b="1"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2977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406" y="546918"/>
            <a:ext cx="9404723" cy="766482"/>
          </a:xfrm>
        </p:spPr>
        <p:txBody>
          <a:bodyPr/>
          <a:lstStyle/>
          <a:p>
            <a:r>
              <a:rPr lang="en-US" dirty="0" smtClean="0"/>
              <a:t>Analysis</a:t>
            </a:r>
            <a:endParaRPr lang="en-US" dirty="0"/>
          </a:p>
        </p:txBody>
      </p:sp>
      <p:pic>
        <p:nvPicPr>
          <p:cNvPr id="25" name="Picture 24"/>
          <p:cNvPicPr/>
          <p:nvPr/>
        </p:nvPicPr>
        <p:blipFill rotWithShape="1">
          <a:blip r:embed="rId3" cstate="print">
            <a:extLst>
              <a:ext uri="{28A0092B-C50C-407E-A947-70E740481C1C}">
                <a14:useLocalDpi xmlns:a14="http://schemas.microsoft.com/office/drawing/2010/main" val="0"/>
              </a:ext>
            </a:extLst>
          </a:blip>
          <a:srcRect l="685" t="9997" r="1246" b="5935"/>
          <a:stretch/>
        </p:blipFill>
        <p:spPr bwMode="auto">
          <a:xfrm>
            <a:off x="2284584" y="1729489"/>
            <a:ext cx="1658620" cy="930275"/>
          </a:xfrm>
          <a:prstGeom prst="rect">
            <a:avLst/>
          </a:prstGeom>
          <a:ln w="9525">
            <a:solidFill>
              <a:schemeClr val="tx1"/>
            </a:solidFill>
          </a:ln>
          <a:extLst>
            <a:ext uri="{53640926-AAD7-44D8-BBD7-CCE9431645EC}">
              <a14:shadowObscured xmlns:a14="http://schemas.microsoft.com/office/drawing/2010/main"/>
            </a:ext>
          </a:extLst>
        </p:spPr>
      </p:pic>
      <p:pic>
        <p:nvPicPr>
          <p:cNvPr id="26" name="Picture 25"/>
          <p:cNvPicPr/>
          <p:nvPr/>
        </p:nvPicPr>
        <p:blipFill rotWithShape="1">
          <a:blip r:embed="rId4" cstate="print">
            <a:extLst>
              <a:ext uri="{28A0092B-C50C-407E-A947-70E740481C1C}">
                <a14:useLocalDpi xmlns:a14="http://schemas.microsoft.com/office/drawing/2010/main" val="0"/>
              </a:ext>
            </a:extLst>
          </a:blip>
          <a:srcRect l="914" t="10143" r="1714" b="6376"/>
          <a:stretch/>
        </p:blipFill>
        <p:spPr bwMode="auto">
          <a:xfrm>
            <a:off x="7346169" y="1744094"/>
            <a:ext cx="1680845" cy="921385"/>
          </a:xfrm>
          <a:prstGeom prst="rect">
            <a:avLst/>
          </a:prstGeom>
          <a:ln w="9525">
            <a:solidFill>
              <a:schemeClr val="tx1"/>
            </a:solidFill>
          </a:ln>
          <a:extLst>
            <a:ext uri="{53640926-AAD7-44D8-BBD7-CCE9431645EC}">
              <a14:shadowObscured xmlns:a14="http://schemas.microsoft.com/office/drawing/2010/main"/>
            </a:ext>
          </a:extLst>
        </p:spPr>
      </p:pic>
      <p:pic>
        <p:nvPicPr>
          <p:cNvPr id="27" name="Picture 26"/>
          <p:cNvPicPr/>
          <p:nvPr/>
        </p:nvPicPr>
        <p:blipFill rotWithShape="1">
          <a:blip r:embed="rId5" cstate="print">
            <a:extLst>
              <a:ext uri="{28A0092B-C50C-407E-A947-70E740481C1C}">
                <a14:useLocalDpi xmlns:a14="http://schemas.microsoft.com/office/drawing/2010/main" val="0"/>
              </a:ext>
            </a:extLst>
          </a:blip>
          <a:srcRect l="4800" t="9849" r="1131" b="11079"/>
          <a:stretch/>
        </p:blipFill>
        <p:spPr bwMode="auto">
          <a:xfrm>
            <a:off x="4003529" y="1736474"/>
            <a:ext cx="1696720" cy="923925"/>
          </a:xfrm>
          <a:prstGeom prst="rect">
            <a:avLst/>
          </a:prstGeom>
          <a:ln w="9525">
            <a:solidFill>
              <a:schemeClr val="tx1"/>
            </a:solidFill>
          </a:ln>
          <a:extLst>
            <a:ext uri="{53640926-AAD7-44D8-BBD7-CCE9431645EC}">
              <a14:shadowObscured xmlns:a14="http://schemas.microsoft.com/office/drawing/2010/main"/>
            </a:ext>
          </a:extLst>
        </p:spPr>
      </p:pic>
      <p:pic>
        <p:nvPicPr>
          <p:cNvPr id="28" name="Picture 27"/>
          <p:cNvPicPr/>
          <p:nvPr/>
        </p:nvPicPr>
        <p:blipFill rotWithShape="1">
          <a:blip r:embed="rId6" cstate="print">
            <a:extLst>
              <a:ext uri="{28A0092B-C50C-407E-A947-70E740481C1C}">
                <a14:useLocalDpi xmlns:a14="http://schemas.microsoft.com/office/drawing/2010/main" val="0"/>
              </a:ext>
            </a:extLst>
          </a:blip>
          <a:srcRect l="3200" t="9702" r="1469" b="11372"/>
          <a:stretch/>
        </p:blipFill>
        <p:spPr bwMode="auto">
          <a:xfrm>
            <a:off x="5758669" y="1744094"/>
            <a:ext cx="1536065" cy="921385"/>
          </a:xfrm>
          <a:prstGeom prst="rect">
            <a:avLst/>
          </a:prstGeom>
          <a:ln w="9525">
            <a:solidFill>
              <a:schemeClr val="tx1"/>
            </a:solidFill>
          </a:ln>
          <a:extLst>
            <a:ext uri="{53640926-AAD7-44D8-BBD7-CCE9431645EC}">
              <a14:shadowObscured xmlns:a14="http://schemas.microsoft.com/office/drawing/2010/main"/>
            </a:ext>
          </a:extLst>
        </p:spPr>
      </p:pic>
      <p:sp>
        <p:nvSpPr>
          <p:cNvPr id="29" name="Text Box 36"/>
          <p:cNvSpPr txBox="1"/>
          <p:nvPr/>
        </p:nvSpPr>
        <p:spPr>
          <a:xfrm>
            <a:off x="2408897" y="2725460"/>
            <a:ext cx="6400800" cy="577850"/>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marL="0" marR="0" algn="ctr">
              <a:lnSpc>
                <a:spcPct val="105000"/>
              </a:lnSpc>
              <a:spcBef>
                <a:spcPts val="0"/>
              </a:spcBef>
              <a:spcAft>
                <a:spcPts val="800"/>
              </a:spcAft>
            </a:pPr>
            <a:r>
              <a:rPr lang="en-US" sz="1400" b="0" dirty="0">
                <a:effectLst/>
                <a:ea typeface="Times New Roman" panose="02020603050405020304" pitchFamily="18" charset="0"/>
                <a:cs typeface="Times New Roman" panose="02020603050405020304" pitchFamily="18" charset="0"/>
              </a:rPr>
              <a:t>Figures </a:t>
            </a:r>
            <a:r>
              <a:rPr lang="en-US" sz="1400" dirty="0" smtClean="0">
                <a:ea typeface="Times New Roman" panose="02020603050405020304" pitchFamily="18" charset="0"/>
                <a:cs typeface="Times New Roman" panose="02020603050405020304" pitchFamily="18" charset="0"/>
              </a:rPr>
              <a:t>14</a:t>
            </a:r>
            <a:r>
              <a:rPr lang="en-US" sz="1400" b="0" dirty="0" smtClean="0">
                <a:effectLst/>
                <a:ea typeface="Times New Roman" panose="02020603050405020304" pitchFamily="18" charset="0"/>
                <a:cs typeface="Times New Roman" panose="02020603050405020304" pitchFamily="18" charset="0"/>
              </a:rPr>
              <a:t>-17</a:t>
            </a:r>
            <a:r>
              <a:rPr lang="en-US" sz="1400" b="0" dirty="0">
                <a:effectLst/>
                <a:ea typeface="Times New Roman" panose="02020603050405020304" pitchFamily="18" charset="0"/>
                <a:cs typeface="Times New Roman" panose="02020603050405020304" pitchFamily="18" charset="0"/>
              </a:rPr>
              <a:t>: From left to right: Mie Directional G’s -1.0, 0.0, 0.8, and 0.99</a:t>
            </a:r>
            <a:endParaRPr lang="en-US" sz="1200" b="1" dirty="0">
              <a:effectLst/>
              <a:ea typeface="Times New Roman" panose="02020603050405020304" pitchFamily="18" charset="0"/>
              <a:cs typeface="Times New Roman" panose="02020603050405020304" pitchFamily="18" charset="0"/>
            </a:endParaRPr>
          </a:p>
        </p:txBody>
      </p:sp>
      <p:pic>
        <p:nvPicPr>
          <p:cNvPr id="30" name="Picture 29"/>
          <p:cNvPicPr/>
          <p:nvPr/>
        </p:nvPicPr>
        <p:blipFill rotWithShape="1">
          <a:blip r:embed="rId7" cstate="print">
            <a:extLst>
              <a:ext uri="{28A0092B-C50C-407E-A947-70E740481C1C}">
                <a14:useLocalDpi xmlns:a14="http://schemas.microsoft.com/office/drawing/2010/main" val="0"/>
              </a:ext>
            </a:extLst>
          </a:blip>
          <a:srcRect l="3086" t="9997" r="895" b="9610"/>
          <a:stretch/>
        </p:blipFill>
        <p:spPr bwMode="auto">
          <a:xfrm>
            <a:off x="2219179" y="3124404"/>
            <a:ext cx="1666240" cy="950595"/>
          </a:xfrm>
          <a:prstGeom prst="rect">
            <a:avLst/>
          </a:prstGeom>
          <a:ln w="9525">
            <a:solidFill>
              <a:schemeClr val="tx1"/>
            </a:solidFill>
          </a:ln>
          <a:extLst>
            <a:ext uri="{53640926-AAD7-44D8-BBD7-CCE9431645EC}">
              <a14:shadowObscured xmlns:a14="http://schemas.microsoft.com/office/drawing/2010/main"/>
            </a:ext>
          </a:extLst>
        </p:spPr>
      </p:pic>
      <p:pic>
        <p:nvPicPr>
          <p:cNvPr id="31" name="Picture 30"/>
          <p:cNvPicPr/>
          <p:nvPr/>
        </p:nvPicPr>
        <p:blipFill rotWithShape="1">
          <a:blip r:embed="rId8" cstate="print">
            <a:extLst>
              <a:ext uri="{28A0092B-C50C-407E-A947-70E740481C1C}">
                <a14:useLocalDpi xmlns:a14="http://schemas.microsoft.com/office/drawing/2010/main" val="0"/>
              </a:ext>
            </a:extLst>
          </a:blip>
          <a:srcRect l="4458" t="8130" r="773" b="8978"/>
          <a:stretch/>
        </p:blipFill>
        <p:spPr bwMode="auto">
          <a:xfrm>
            <a:off x="5698344" y="3121229"/>
            <a:ext cx="1536065" cy="950595"/>
          </a:xfrm>
          <a:prstGeom prst="rect">
            <a:avLst/>
          </a:prstGeom>
          <a:ln w="9525">
            <a:solidFill>
              <a:schemeClr val="tx1"/>
            </a:solidFill>
          </a:ln>
          <a:extLst>
            <a:ext uri="{53640926-AAD7-44D8-BBD7-CCE9431645EC}">
              <a14:shadowObscured xmlns:a14="http://schemas.microsoft.com/office/drawing/2010/main"/>
            </a:ext>
          </a:extLst>
        </p:spPr>
      </p:pic>
      <p:pic>
        <p:nvPicPr>
          <p:cNvPr id="32" name="Picture 31"/>
          <p:cNvPicPr/>
          <p:nvPr/>
        </p:nvPicPr>
        <p:blipFill rotWithShape="1">
          <a:blip r:embed="rId9" cstate="print">
            <a:extLst>
              <a:ext uri="{28A0092B-C50C-407E-A947-70E740481C1C}">
                <a14:useLocalDpi xmlns:a14="http://schemas.microsoft.com/office/drawing/2010/main" val="0"/>
              </a:ext>
            </a:extLst>
          </a:blip>
          <a:srcRect l="6722" t="7925" r="884" b="5118"/>
          <a:stretch/>
        </p:blipFill>
        <p:spPr bwMode="auto">
          <a:xfrm>
            <a:off x="3943204" y="3121229"/>
            <a:ext cx="1704340" cy="950595"/>
          </a:xfrm>
          <a:prstGeom prst="rect">
            <a:avLst/>
          </a:prstGeom>
          <a:ln w="9525">
            <a:solidFill>
              <a:schemeClr val="tx1"/>
            </a:solidFill>
          </a:ln>
          <a:extLst>
            <a:ext uri="{53640926-AAD7-44D8-BBD7-CCE9431645EC}">
              <a14:shadowObscured xmlns:a14="http://schemas.microsoft.com/office/drawing/2010/main"/>
            </a:ext>
          </a:extLst>
        </p:spPr>
      </p:pic>
      <p:pic>
        <p:nvPicPr>
          <p:cNvPr id="33" name="Picture 32"/>
          <p:cNvPicPr/>
          <p:nvPr/>
        </p:nvPicPr>
        <p:blipFill rotWithShape="1">
          <a:blip r:embed="rId10" cstate="print">
            <a:extLst>
              <a:ext uri="{28A0092B-C50C-407E-A947-70E740481C1C}">
                <a14:useLocalDpi xmlns:a14="http://schemas.microsoft.com/office/drawing/2010/main" val="0"/>
              </a:ext>
            </a:extLst>
          </a:blip>
          <a:srcRect l="914" t="10143" r="1714" b="6376"/>
          <a:stretch/>
        </p:blipFill>
        <p:spPr bwMode="auto">
          <a:xfrm>
            <a:off x="7271239" y="3121229"/>
            <a:ext cx="1682115" cy="950595"/>
          </a:xfrm>
          <a:prstGeom prst="rect">
            <a:avLst/>
          </a:prstGeom>
          <a:ln w="9525">
            <a:solidFill>
              <a:schemeClr val="tx1"/>
            </a:solidFill>
          </a:ln>
          <a:extLst>
            <a:ext uri="{53640926-AAD7-44D8-BBD7-CCE9431645EC}">
              <a14:shadowObscured xmlns:a14="http://schemas.microsoft.com/office/drawing/2010/main"/>
            </a:ext>
          </a:extLst>
        </p:spPr>
      </p:pic>
      <p:sp>
        <p:nvSpPr>
          <p:cNvPr id="34" name="Text Box 41"/>
          <p:cNvSpPr txBox="1"/>
          <p:nvPr/>
        </p:nvSpPr>
        <p:spPr>
          <a:xfrm>
            <a:off x="2206528" y="4121290"/>
            <a:ext cx="6775040" cy="460375"/>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marL="0" marR="0" algn="ctr">
              <a:lnSpc>
                <a:spcPct val="105000"/>
              </a:lnSpc>
              <a:spcBef>
                <a:spcPts val="0"/>
              </a:spcBef>
              <a:spcAft>
                <a:spcPts val="800"/>
              </a:spcAft>
            </a:pPr>
            <a:r>
              <a:rPr lang="en-US" sz="1400" b="0" dirty="0">
                <a:effectLst/>
                <a:ea typeface="Times New Roman" panose="02020603050405020304" pitchFamily="18" charset="0"/>
                <a:cs typeface="Times New Roman" panose="02020603050405020304" pitchFamily="18" charset="0"/>
              </a:rPr>
              <a:t>Figures </a:t>
            </a:r>
            <a:r>
              <a:rPr lang="en-US" sz="1400" dirty="0" smtClean="0">
                <a:ea typeface="Times New Roman" panose="02020603050405020304" pitchFamily="18" charset="0"/>
                <a:cs typeface="Times New Roman" panose="02020603050405020304" pitchFamily="18" charset="0"/>
              </a:rPr>
              <a:t>18</a:t>
            </a:r>
            <a:r>
              <a:rPr lang="en-US" sz="1400" b="0" dirty="0" smtClean="0">
                <a:effectLst/>
                <a:ea typeface="Times New Roman" panose="02020603050405020304" pitchFamily="18" charset="0"/>
                <a:cs typeface="Times New Roman" panose="02020603050405020304" pitchFamily="18" charset="0"/>
              </a:rPr>
              <a:t>-21</a:t>
            </a:r>
            <a:r>
              <a:rPr lang="en-US" sz="1400" b="0" dirty="0">
                <a:effectLst/>
                <a:ea typeface="Times New Roman" panose="02020603050405020304" pitchFamily="18" charset="0"/>
                <a:cs typeface="Times New Roman" panose="02020603050405020304" pitchFamily="18" charset="0"/>
              </a:rPr>
              <a:t>: From left to right: </a:t>
            </a:r>
            <a:r>
              <a:rPr lang="en-US" sz="1400" b="0" dirty="0" err="1">
                <a:effectLst/>
                <a:ea typeface="Times New Roman" panose="02020603050405020304" pitchFamily="18" charset="0"/>
                <a:cs typeface="Times New Roman" panose="02020603050405020304" pitchFamily="18" charset="0"/>
              </a:rPr>
              <a:t>Luminances</a:t>
            </a:r>
            <a:r>
              <a:rPr lang="en-US" sz="1400" b="0" dirty="0">
                <a:effectLst/>
                <a:ea typeface="Times New Roman" panose="02020603050405020304" pitchFamily="18" charset="0"/>
                <a:cs typeface="Times New Roman" panose="02020603050405020304" pitchFamily="18" charset="0"/>
              </a:rPr>
              <a:t> 0.0, 0.01, 0.1, and 1.0</a:t>
            </a:r>
            <a:endParaRPr lang="en-US" sz="1200" b="1" dirty="0">
              <a:effectLst/>
              <a:ea typeface="Times New Roman" panose="02020603050405020304" pitchFamily="18" charset="0"/>
              <a:cs typeface="Times New Roman" panose="02020603050405020304" pitchFamily="18" charset="0"/>
            </a:endParaRPr>
          </a:p>
        </p:txBody>
      </p:sp>
      <p:pic>
        <p:nvPicPr>
          <p:cNvPr id="35" name="Picture 34"/>
          <p:cNvPicPr/>
          <p:nvPr/>
        </p:nvPicPr>
        <p:blipFill rotWithShape="1">
          <a:blip r:embed="rId11" cstate="print">
            <a:extLst>
              <a:ext uri="{28A0092B-C50C-407E-A947-70E740481C1C}">
                <a14:useLocalDpi xmlns:a14="http://schemas.microsoft.com/office/drawing/2010/main" val="0"/>
              </a:ext>
            </a:extLst>
          </a:blip>
          <a:srcRect l="1486" t="7520" r="1006" b="9385"/>
          <a:stretch/>
        </p:blipFill>
        <p:spPr bwMode="auto">
          <a:xfrm>
            <a:off x="2226799" y="4600779"/>
            <a:ext cx="1411605" cy="774700"/>
          </a:xfrm>
          <a:prstGeom prst="rect">
            <a:avLst/>
          </a:prstGeom>
          <a:ln w="9525">
            <a:solidFill>
              <a:schemeClr val="tx1"/>
            </a:solidFill>
          </a:ln>
          <a:extLst>
            <a:ext uri="{53640926-AAD7-44D8-BBD7-CCE9431645EC}">
              <a14:shadowObscured xmlns:a14="http://schemas.microsoft.com/office/drawing/2010/main"/>
            </a:ext>
          </a:extLst>
        </p:spPr>
      </p:pic>
      <p:pic>
        <p:nvPicPr>
          <p:cNvPr id="36" name="Picture 35"/>
          <p:cNvPicPr/>
          <p:nvPr/>
        </p:nvPicPr>
        <p:blipFill rotWithShape="1">
          <a:blip r:embed="rId12" cstate="print">
            <a:extLst>
              <a:ext uri="{28A0092B-C50C-407E-A947-70E740481C1C}">
                <a14:useLocalDpi xmlns:a14="http://schemas.microsoft.com/office/drawing/2010/main" val="0"/>
              </a:ext>
            </a:extLst>
          </a:blip>
          <a:srcRect t="7722" r="902" b="4507"/>
          <a:stretch/>
        </p:blipFill>
        <p:spPr bwMode="auto">
          <a:xfrm>
            <a:off x="5093189" y="4624909"/>
            <a:ext cx="1318260" cy="752475"/>
          </a:xfrm>
          <a:prstGeom prst="rect">
            <a:avLst/>
          </a:prstGeom>
          <a:ln w="9525">
            <a:solidFill>
              <a:schemeClr val="tx1"/>
            </a:solidFill>
          </a:ln>
          <a:extLst>
            <a:ext uri="{53640926-AAD7-44D8-BBD7-CCE9431645EC}">
              <a14:shadowObscured xmlns:a14="http://schemas.microsoft.com/office/drawing/2010/main"/>
            </a:ext>
          </a:extLst>
        </p:spPr>
      </p:pic>
      <p:pic>
        <p:nvPicPr>
          <p:cNvPr id="37" name="Picture 36"/>
          <p:cNvPicPr/>
          <p:nvPr/>
        </p:nvPicPr>
        <p:blipFill rotWithShape="1">
          <a:blip r:embed="rId13" cstate="print">
            <a:extLst>
              <a:ext uri="{28A0092B-C50C-407E-A947-70E740481C1C}">
                <a14:useLocalDpi xmlns:a14="http://schemas.microsoft.com/office/drawing/2010/main" val="0"/>
              </a:ext>
            </a:extLst>
          </a:blip>
          <a:srcRect l="9945" t="8128" r="877" b="4878"/>
          <a:stretch/>
        </p:blipFill>
        <p:spPr bwMode="auto">
          <a:xfrm>
            <a:off x="6453994" y="4624909"/>
            <a:ext cx="1155700" cy="760730"/>
          </a:xfrm>
          <a:prstGeom prst="rect">
            <a:avLst/>
          </a:prstGeom>
          <a:ln w="9525">
            <a:solidFill>
              <a:schemeClr val="tx1"/>
            </a:solidFill>
          </a:ln>
          <a:extLst>
            <a:ext uri="{53640926-AAD7-44D8-BBD7-CCE9431645EC}">
              <a14:shadowObscured xmlns:a14="http://schemas.microsoft.com/office/drawing/2010/main"/>
            </a:ext>
          </a:extLst>
        </p:spPr>
      </p:pic>
      <p:pic>
        <p:nvPicPr>
          <p:cNvPr id="38" name="Picture 37"/>
          <p:cNvPicPr/>
          <p:nvPr/>
        </p:nvPicPr>
        <p:blipFill rotWithShape="1">
          <a:blip r:embed="rId14" cstate="print">
            <a:extLst>
              <a:ext uri="{28A0092B-C50C-407E-A947-70E740481C1C}">
                <a14:useLocalDpi xmlns:a14="http://schemas.microsoft.com/office/drawing/2010/main" val="0"/>
              </a:ext>
            </a:extLst>
          </a:blip>
          <a:srcRect l="914" t="10143" r="1714" b="6376"/>
          <a:stretch/>
        </p:blipFill>
        <p:spPr bwMode="auto">
          <a:xfrm>
            <a:off x="3680314" y="4624909"/>
            <a:ext cx="1360170" cy="755015"/>
          </a:xfrm>
          <a:prstGeom prst="rect">
            <a:avLst/>
          </a:prstGeom>
          <a:ln w="9525">
            <a:solidFill>
              <a:schemeClr val="tx1"/>
            </a:solidFill>
          </a:ln>
          <a:extLst>
            <a:ext uri="{53640926-AAD7-44D8-BBD7-CCE9431645EC}">
              <a14:shadowObscured xmlns:a14="http://schemas.microsoft.com/office/drawing/2010/main"/>
            </a:ext>
          </a:extLst>
        </p:spPr>
      </p:pic>
      <p:pic>
        <p:nvPicPr>
          <p:cNvPr id="39" name="Picture 38"/>
          <p:cNvPicPr/>
          <p:nvPr/>
        </p:nvPicPr>
        <p:blipFill rotWithShape="1">
          <a:blip r:embed="rId15" cstate="print">
            <a:extLst>
              <a:ext uri="{28A0092B-C50C-407E-A947-70E740481C1C}">
                <a14:useLocalDpi xmlns:a14="http://schemas.microsoft.com/office/drawing/2010/main" val="0"/>
              </a:ext>
            </a:extLst>
          </a:blip>
          <a:srcRect l="4802" t="7927" r="540" b="5305"/>
          <a:stretch/>
        </p:blipFill>
        <p:spPr bwMode="auto">
          <a:xfrm>
            <a:off x="7653509" y="4631894"/>
            <a:ext cx="1306195" cy="760730"/>
          </a:xfrm>
          <a:prstGeom prst="rect">
            <a:avLst/>
          </a:prstGeom>
          <a:ln w="9525">
            <a:solidFill>
              <a:schemeClr val="tx1"/>
            </a:solidFill>
          </a:ln>
          <a:extLst>
            <a:ext uri="{53640926-AAD7-44D8-BBD7-CCE9431645EC}">
              <a14:shadowObscured xmlns:a14="http://schemas.microsoft.com/office/drawing/2010/main"/>
            </a:ext>
          </a:extLst>
        </p:spPr>
      </p:pic>
      <p:sp>
        <p:nvSpPr>
          <p:cNvPr id="40" name="Text Box 49"/>
          <p:cNvSpPr txBox="1"/>
          <p:nvPr/>
        </p:nvSpPr>
        <p:spPr>
          <a:xfrm>
            <a:off x="2155508" y="5467654"/>
            <a:ext cx="6984071" cy="248285"/>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marL="0" marR="0" algn="ctr">
              <a:lnSpc>
                <a:spcPct val="105000"/>
              </a:lnSpc>
              <a:spcBef>
                <a:spcPts val="0"/>
              </a:spcBef>
              <a:spcAft>
                <a:spcPts val="800"/>
              </a:spcAft>
            </a:pPr>
            <a:r>
              <a:rPr lang="en-US" sz="1400" b="0" dirty="0">
                <a:effectLst/>
                <a:ea typeface="Times New Roman" panose="02020603050405020304" pitchFamily="18" charset="0"/>
                <a:cs typeface="Times New Roman" panose="02020603050405020304" pitchFamily="18" charset="0"/>
              </a:rPr>
              <a:t>Figures </a:t>
            </a:r>
            <a:r>
              <a:rPr lang="en-US" sz="1400" b="0" dirty="0" smtClean="0">
                <a:effectLst/>
                <a:ea typeface="Times New Roman" panose="02020603050405020304" pitchFamily="18" charset="0"/>
                <a:cs typeface="Times New Roman" panose="02020603050405020304" pitchFamily="18" charset="0"/>
              </a:rPr>
              <a:t>22-26</a:t>
            </a:r>
            <a:r>
              <a:rPr lang="en-US" sz="1400" b="0" dirty="0">
                <a:effectLst/>
                <a:ea typeface="Times New Roman" panose="02020603050405020304" pitchFamily="18" charset="0"/>
                <a:cs typeface="Times New Roman" panose="02020603050405020304" pitchFamily="18" charset="0"/>
              </a:rPr>
              <a:t>: From left to right: Inclinations -0.0061, 0, 0.0188, 0.1055, and 0.2356</a:t>
            </a:r>
            <a:endParaRPr lang="en-US" sz="1200" b="1"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0530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t>Demonstration</a:t>
            </a:r>
            <a:endParaRPr lang="en-US" dirty="0"/>
          </a:p>
        </p:txBody>
      </p:sp>
      <p:sp>
        <p:nvSpPr>
          <p:cNvPr id="3" name="Content Placeholder 2"/>
          <p:cNvSpPr>
            <a:spLocks noGrp="1"/>
          </p:cNvSpPr>
          <p:nvPr>
            <p:ph idx="1"/>
          </p:nvPr>
        </p:nvSpPr>
        <p:spPr>
          <a:xfrm>
            <a:off x="1103312" y="2052918"/>
            <a:ext cx="9580730" cy="4195481"/>
          </a:xfrm>
        </p:spPr>
        <p:txBody>
          <a:bodyPr>
            <a:normAutofit/>
          </a:bodyPr>
          <a:lstStyle/>
          <a:p>
            <a:r>
              <a:rPr lang="en-US" sz="2800" dirty="0"/>
              <a:t>Koo, Joshua. "Sky Sun Shader." Three.js. </a:t>
            </a:r>
            <a:r>
              <a:rPr lang="en-US" sz="2800" dirty="0">
                <a:hlinkClick r:id="rId2"/>
              </a:rPr>
              <a:t>http://threejs.org/examples/#webgl_shaders_sky</a:t>
            </a:r>
            <a:r>
              <a:rPr lang="en-US" sz="2800" dirty="0" smtClean="0"/>
              <a:t>.</a:t>
            </a:r>
          </a:p>
          <a:p>
            <a:pPr marL="0" indent="0">
              <a:buNone/>
            </a:pPr>
            <a:endParaRPr lang="en-US" sz="2800" dirty="0" smtClean="0"/>
          </a:p>
          <a:p>
            <a:r>
              <a:rPr lang="en-US" sz="2800" dirty="0" smtClean="0"/>
              <a:t>Gross, Angela. “Atmospheric Scattering Shader.”</a:t>
            </a:r>
            <a:endParaRPr lang="en-US" sz="2800" dirty="0"/>
          </a:p>
        </p:txBody>
      </p:sp>
    </p:spTree>
    <p:extLst>
      <p:ext uri="{BB962C8B-B14F-4D97-AF65-F5344CB8AC3E}">
        <p14:creationId xmlns:p14="http://schemas.microsoft.com/office/powerpoint/2010/main" val="1851113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46693"/>
          </a:xfrm>
        </p:spPr>
        <p:txBody>
          <a:bodyPr/>
          <a:lstStyle/>
          <a:p>
            <a:r>
              <a:rPr lang="en-US" dirty="0" smtClean="0"/>
              <a:t>Bibliography</a:t>
            </a:r>
            <a:endParaRPr lang="en-US" dirty="0"/>
          </a:p>
        </p:txBody>
      </p:sp>
      <p:sp>
        <p:nvSpPr>
          <p:cNvPr id="4" name="Rectangle 3"/>
          <p:cNvSpPr/>
          <p:nvPr/>
        </p:nvSpPr>
        <p:spPr>
          <a:xfrm>
            <a:off x="646111" y="1128398"/>
            <a:ext cx="10082463" cy="5621539"/>
          </a:xfrm>
          <a:prstGeom prst="rect">
            <a:avLst/>
          </a:prstGeom>
        </p:spPr>
        <p:txBody>
          <a:bodyPr wrap="square">
            <a:spAutoFit/>
          </a:bodyPr>
          <a:lstStyle/>
          <a:p>
            <a:pPr marL="457200" marR="0" indent="-457200">
              <a:lnSpc>
                <a:spcPct val="105000"/>
              </a:lnSpc>
              <a:spcBef>
                <a:spcPts val="0"/>
              </a:spcBef>
              <a:spcAft>
                <a:spcPts val="800"/>
              </a:spcAft>
            </a:pPr>
            <a:r>
              <a:rPr lang="en-US" sz="1400" dirty="0">
                <a:ea typeface="Times New Roman" panose="02020603050405020304" pitchFamily="18" charset="0"/>
                <a:cs typeface="Times New Roman" panose="02020603050405020304" pitchFamily="18" charset="0"/>
              </a:rPr>
              <a:t>Angel, Edward. 2009. </a:t>
            </a:r>
            <a:r>
              <a:rPr lang="en-US" sz="1400" i="1" dirty="0">
                <a:ea typeface="Times New Roman" panose="02020603050405020304" pitchFamily="18" charset="0"/>
                <a:cs typeface="Times New Roman" panose="02020603050405020304" pitchFamily="18" charset="0"/>
              </a:rPr>
              <a:t>Interactive Computer Graphics: A Top-Down Approach Using OpenGL.</a:t>
            </a:r>
            <a:r>
              <a:rPr lang="en-US" sz="1400" dirty="0">
                <a:ea typeface="Times New Roman" panose="02020603050405020304" pitchFamily="18" charset="0"/>
                <a:cs typeface="Times New Roman" panose="02020603050405020304" pitchFamily="18" charset="0"/>
              </a:rPr>
              <a:t> Pearson Education, Inc. Chapter 9: Shaders</a:t>
            </a:r>
          </a:p>
          <a:p>
            <a:pPr marL="457200" marR="0" indent="-457200">
              <a:lnSpc>
                <a:spcPct val="105000"/>
              </a:lnSpc>
              <a:spcBef>
                <a:spcPts val="0"/>
              </a:spcBef>
              <a:spcAft>
                <a:spcPts val="800"/>
              </a:spcAft>
            </a:pPr>
            <a:r>
              <a:rPr lang="en-US" sz="1400" dirty="0">
                <a:ea typeface="Times New Roman" panose="02020603050405020304" pitchFamily="18" charset="0"/>
                <a:cs typeface="Times New Roman" panose="02020603050405020304" pitchFamily="18" charset="0"/>
              </a:rPr>
              <a:t>Haines, Eric. </a:t>
            </a: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a:t>
            </a:r>
            <a:r>
              <a:rPr lang="en-US" sz="1400" i="1" dirty="0">
                <a:ea typeface="Times New Roman" panose="02020603050405020304" pitchFamily="18" charset="0"/>
                <a:cs typeface="Times New Roman" panose="02020603050405020304" pitchFamily="18" charset="0"/>
              </a:rPr>
              <a:t>Interactive 3D Graphics.</a:t>
            </a:r>
            <a:r>
              <a:rPr lang="en-US" sz="1400" dirty="0">
                <a:ea typeface="Times New Roman" panose="02020603050405020304" pitchFamily="18" charset="0"/>
                <a:cs typeface="Times New Roman" panose="02020603050405020304" pitchFamily="18" charset="0"/>
              </a:rPr>
              <a:t> https://www.udacity.com/course/cs291. Lesson 9: Shader Programming</a:t>
            </a:r>
          </a:p>
          <a:p>
            <a:pPr marL="457200" marR="0" indent="-457200">
              <a:lnSpc>
                <a:spcPct val="105000"/>
              </a:lnSpc>
              <a:spcBef>
                <a:spcPts val="0"/>
              </a:spcBef>
              <a:spcAft>
                <a:spcPts val="800"/>
              </a:spcAft>
            </a:pPr>
            <a:r>
              <a:rPr lang="en-US" sz="1400" dirty="0" err="1">
                <a:ea typeface="Times New Roman" panose="02020603050405020304" pitchFamily="18" charset="0"/>
                <a:cs typeface="Times New Roman" panose="02020603050405020304" pitchFamily="18" charset="0"/>
              </a:rPr>
              <a:t>Hendrickx</a:t>
            </a:r>
            <a:r>
              <a:rPr lang="en-US" sz="1400" dirty="0">
                <a:ea typeface="Times New Roman" panose="02020603050405020304" pitchFamily="18" charset="0"/>
                <a:cs typeface="Times New Roman" panose="02020603050405020304" pitchFamily="18" charset="0"/>
              </a:rPr>
              <a:t>, Q., R. </a:t>
            </a:r>
            <a:r>
              <a:rPr lang="en-US" sz="1400" dirty="0" err="1">
                <a:ea typeface="Times New Roman" panose="02020603050405020304" pitchFamily="18" charset="0"/>
                <a:cs typeface="Times New Roman" panose="02020603050405020304" pitchFamily="18" charset="0"/>
              </a:rPr>
              <a:t>Smelik</a:t>
            </a:r>
            <a:r>
              <a:rPr lang="en-US" sz="1400" dirty="0">
                <a:ea typeface="Times New Roman" panose="02020603050405020304" pitchFamily="18" charset="0"/>
                <a:cs typeface="Times New Roman" panose="02020603050405020304" pitchFamily="18" charset="0"/>
              </a:rPr>
              <a:t>, and R. </a:t>
            </a:r>
            <a:r>
              <a:rPr lang="en-US" sz="1400" dirty="0" err="1">
                <a:ea typeface="Times New Roman" panose="02020603050405020304" pitchFamily="18" charset="0"/>
                <a:cs typeface="Times New Roman" panose="02020603050405020304" pitchFamily="18" charset="0"/>
              </a:rPr>
              <a:t>Bidarra</a:t>
            </a:r>
            <a:r>
              <a:rPr lang="en-US" sz="1400" dirty="0">
                <a:ea typeface="Times New Roman" panose="02020603050405020304" pitchFamily="18" charset="0"/>
                <a:cs typeface="Times New Roman" panose="02020603050405020304" pitchFamily="18" charset="0"/>
              </a:rPr>
              <a:t>. </a:t>
            </a: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"An Effective Composition Method for Novice Shader Programmers." </a:t>
            </a:r>
            <a:r>
              <a:rPr lang="en-US" sz="1400" i="1" dirty="0">
                <a:ea typeface="Times New Roman" panose="02020603050405020304" pitchFamily="18" charset="0"/>
                <a:cs typeface="Times New Roman" panose="02020603050405020304" pitchFamily="18" charset="0"/>
              </a:rPr>
              <a:t>Delft University of Technology.</a:t>
            </a:r>
            <a:r>
              <a:rPr lang="en-US" sz="1400" dirty="0">
                <a:ea typeface="Times New Roman" panose="02020603050405020304" pitchFamily="18" charset="0"/>
                <a:cs typeface="Times New Roman" panose="02020603050405020304" pitchFamily="18" charset="0"/>
              </a:rPr>
              <a:t> </a:t>
            </a:r>
          </a:p>
          <a:p>
            <a:pPr marL="457200" marR="0" indent="-457200">
              <a:lnSpc>
                <a:spcPct val="105000"/>
              </a:lnSpc>
              <a:spcBef>
                <a:spcPts val="0"/>
              </a:spcBef>
              <a:spcAft>
                <a:spcPts val="800"/>
              </a:spcAft>
            </a:pPr>
            <a:r>
              <a:rPr lang="en-US" sz="1400" dirty="0">
                <a:ea typeface="Times New Roman" panose="02020603050405020304" pitchFamily="18" charset="0"/>
                <a:cs typeface="Times New Roman" panose="02020603050405020304" pitchFamily="18" charset="0"/>
              </a:rPr>
              <a:t>Koo, Joshua. </a:t>
            </a: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a:t>
            </a:r>
            <a:r>
              <a:rPr lang="en-US" sz="1400" i="1" dirty="0">
                <a:ea typeface="Times New Roman" panose="02020603050405020304" pitchFamily="18" charset="0"/>
                <a:cs typeface="Times New Roman" panose="02020603050405020304" pitchFamily="18" charset="0"/>
              </a:rPr>
              <a:t>Sun Sky Shader.</a:t>
            </a:r>
            <a:r>
              <a:rPr lang="en-US" sz="1400" dirty="0">
                <a:ea typeface="Times New Roman" panose="02020603050405020304" pitchFamily="18" charset="0"/>
                <a:cs typeface="Times New Roman" panose="02020603050405020304" pitchFamily="18" charset="0"/>
              </a:rPr>
              <a:t> http://threejs.org/examples/#webgl_shaders_sky.</a:t>
            </a:r>
          </a:p>
          <a:p>
            <a:pPr marL="457200" marR="0" indent="-457200">
              <a:lnSpc>
                <a:spcPct val="105000"/>
              </a:lnSpc>
              <a:spcBef>
                <a:spcPts val="0"/>
              </a:spcBef>
              <a:spcAft>
                <a:spcPts val="800"/>
              </a:spcAft>
            </a:pPr>
            <a:r>
              <a:rPr lang="en-US" sz="1400" dirty="0">
                <a:ea typeface="Times New Roman" panose="02020603050405020304" pitchFamily="18" charset="0"/>
                <a:cs typeface="Times New Roman" panose="02020603050405020304" pitchFamily="18" charset="0"/>
              </a:rPr>
              <a:t>Mozilla. </a:t>
            </a: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a:t>
            </a:r>
            <a:r>
              <a:rPr lang="en-US" sz="1400" i="1" dirty="0">
                <a:ea typeface="Times New Roman" panose="02020603050405020304" pitchFamily="18" charset="0"/>
                <a:cs typeface="Times New Roman" panose="02020603050405020304" pitchFamily="18" charset="0"/>
              </a:rPr>
              <a:t>Lighting in </a:t>
            </a:r>
            <a:r>
              <a:rPr lang="en-US" sz="1400" i="1" dirty="0" err="1">
                <a:ea typeface="Times New Roman" panose="02020603050405020304" pitchFamily="18" charset="0"/>
                <a:cs typeface="Times New Roman" panose="02020603050405020304" pitchFamily="18" charset="0"/>
              </a:rPr>
              <a:t>WebGL</a:t>
            </a:r>
            <a:r>
              <a:rPr lang="en-US" sz="1400" i="1" dirty="0">
                <a:ea typeface="Times New Roman" panose="02020603050405020304" pitchFamily="18" charset="0"/>
                <a:cs typeface="Times New Roman" panose="02020603050405020304" pitchFamily="18" charset="0"/>
              </a:rPr>
              <a:t>.</a:t>
            </a:r>
            <a:r>
              <a:rPr lang="en-US" sz="1400" dirty="0">
                <a:ea typeface="Times New Roman" panose="02020603050405020304" pitchFamily="18" charset="0"/>
                <a:cs typeface="Times New Roman" panose="02020603050405020304" pitchFamily="18" charset="0"/>
              </a:rPr>
              <a:t> https://developer.mozilla.org/en-US/docs/Web/WebGL/Lighting_in_WebGL.</a:t>
            </a:r>
          </a:p>
          <a:p>
            <a:pPr marL="457200" marR="0" indent="-457200">
              <a:lnSpc>
                <a:spcPct val="105000"/>
              </a:lnSpc>
              <a:spcBef>
                <a:spcPts val="0"/>
              </a:spcBef>
              <a:spcAft>
                <a:spcPts val="800"/>
              </a:spcAft>
            </a:pPr>
            <a:r>
              <a:rPr lang="en-US" sz="1400" dirty="0" err="1">
                <a:ea typeface="Times New Roman" panose="02020603050405020304" pitchFamily="18" charset="0"/>
                <a:cs typeface="Times New Roman" panose="02020603050405020304" pitchFamily="18" charset="0"/>
              </a:rPr>
              <a:t>mrdoob</a:t>
            </a:r>
            <a:r>
              <a:rPr lang="en-US" sz="1400" dirty="0">
                <a:ea typeface="Times New Roman" panose="02020603050405020304" pitchFamily="18" charset="0"/>
                <a:cs typeface="Times New Roman" panose="02020603050405020304" pitchFamily="18" charset="0"/>
              </a:rPr>
              <a:t>. </a:t>
            </a: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a:t>
            </a:r>
            <a:r>
              <a:rPr lang="en-US" sz="1400" i="1" dirty="0">
                <a:ea typeface="Times New Roman" panose="02020603050405020304" pitchFamily="18" charset="0"/>
                <a:cs typeface="Times New Roman" panose="02020603050405020304" pitchFamily="18" charset="0"/>
              </a:rPr>
              <a:t>Three.js.</a:t>
            </a:r>
            <a:r>
              <a:rPr lang="en-US" sz="1400" dirty="0">
                <a:ea typeface="Times New Roman" panose="02020603050405020304" pitchFamily="18" charset="0"/>
                <a:cs typeface="Times New Roman" panose="02020603050405020304" pitchFamily="18" charset="0"/>
              </a:rPr>
              <a:t> https://github.com/mrdoob/three.js.</a:t>
            </a:r>
          </a:p>
          <a:p>
            <a:pPr marL="457200" marR="0" indent="-457200">
              <a:lnSpc>
                <a:spcPct val="105000"/>
              </a:lnSpc>
              <a:spcBef>
                <a:spcPts val="0"/>
              </a:spcBef>
              <a:spcAft>
                <a:spcPts val="800"/>
              </a:spcAft>
            </a:pPr>
            <a:r>
              <a:rPr lang="en-US" sz="1400" dirty="0">
                <a:ea typeface="Times New Roman" panose="02020603050405020304" pitchFamily="18" charset="0"/>
                <a:cs typeface="Times New Roman" panose="02020603050405020304" pitchFamily="18" charset="0"/>
              </a:rPr>
              <a:t>O'Neil, Sean. </a:t>
            </a: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a:t>
            </a:r>
            <a:r>
              <a:rPr lang="en-US" sz="1400" i="1" dirty="0">
                <a:ea typeface="Times New Roman" panose="02020603050405020304" pitchFamily="18" charset="0"/>
                <a:cs typeface="Times New Roman" panose="02020603050405020304" pitchFamily="18" charset="0"/>
              </a:rPr>
              <a:t>GPU Gems.</a:t>
            </a:r>
            <a:r>
              <a:rPr lang="en-US" sz="1400" dirty="0">
                <a:ea typeface="Times New Roman" panose="02020603050405020304" pitchFamily="18" charset="0"/>
                <a:cs typeface="Times New Roman" panose="02020603050405020304" pitchFamily="18" charset="0"/>
              </a:rPr>
              <a:t> http://http.developer.nvidia.com/GPUGems2/gpugems2_chapter16.html.</a:t>
            </a:r>
          </a:p>
          <a:p>
            <a:pPr marL="457200" marR="0" indent="-457200">
              <a:lnSpc>
                <a:spcPct val="105000"/>
              </a:lnSpc>
              <a:spcBef>
                <a:spcPts val="0"/>
              </a:spcBef>
              <a:spcAft>
                <a:spcPts val="800"/>
              </a:spcAft>
            </a:pPr>
            <a:r>
              <a:rPr lang="en-US" sz="1400" dirty="0">
                <a:ea typeface="Times New Roman" panose="02020603050405020304" pitchFamily="18" charset="0"/>
                <a:cs typeface="Times New Roman" panose="02020603050405020304" pitchFamily="18" charset="0"/>
              </a:rPr>
              <a:t>Preetham, A. J. </a:t>
            </a: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"Modeling Skylight and Aerial Perspective." http://mathinfo.univ-reims.fr/IMG/pdf/PreethamSig2003CourseNotes.pdf.</a:t>
            </a:r>
          </a:p>
          <a:p>
            <a:pPr marL="457200" marR="0" indent="-457200">
              <a:lnSpc>
                <a:spcPct val="105000"/>
              </a:lnSpc>
              <a:spcBef>
                <a:spcPts val="0"/>
              </a:spcBef>
              <a:spcAft>
                <a:spcPts val="800"/>
              </a:spcAft>
            </a:pPr>
            <a:r>
              <a:rPr lang="en-US" sz="1400" dirty="0">
                <a:ea typeface="Times New Roman" panose="02020603050405020304" pitchFamily="18" charset="0"/>
                <a:cs typeface="Times New Roman" panose="02020603050405020304" pitchFamily="18" charset="0"/>
              </a:rPr>
              <a:t>Preetham, A. J., and N. Hoffman. </a:t>
            </a: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"Rendering Outdoor Light Scattering in Real Time." http://www2.ati.com/developer/gdc/GDC02_HoffmanPreetham.pdf.</a:t>
            </a:r>
          </a:p>
          <a:p>
            <a:pPr marL="457200" marR="0" indent="-457200">
              <a:lnSpc>
                <a:spcPct val="105000"/>
              </a:lnSpc>
              <a:spcBef>
                <a:spcPts val="0"/>
              </a:spcBef>
              <a:spcAft>
                <a:spcPts val="800"/>
              </a:spcAft>
            </a:pPr>
            <a:r>
              <a:rPr lang="en-US" sz="1400" dirty="0">
                <a:ea typeface="Times New Roman" panose="02020603050405020304" pitchFamily="18" charset="0"/>
                <a:cs typeface="Times New Roman" panose="02020603050405020304" pitchFamily="18" charset="0"/>
              </a:rPr>
              <a:t>Preetham, A. J., Peter Shirley, and Brian Smits. </a:t>
            </a: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"A Practical Analytic Model for Daylight." </a:t>
            </a:r>
            <a:r>
              <a:rPr lang="en-US" sz="1400" i="1" dirty="0">
                <a:ea typeface="Times New Roman" panose="02020603050405020304" pitchFamily="18" charset="0"/>
                <a:cs typeface="Times New Roman" panose="02020603050405020304" pitchFamily="18" charset="0"/>
              </a:rPr>
              <a:t>University of Utah.</a:t>
            </a:r>
            <a:r>
              <a:rPr lang="en-US" sz="1400" dirty="0">
                <a:ea typeface="Times New Roman" panose="02020603050405020304" pitchFamily="18" charset="0"/>
                <a:cs typeface="Times New Roman" panose="02020603050405020304" pitchFamily="18" charset="0"/>
              </a:rPr>
              <a:t> http://www.cs.utah.edu/~shirley/papers/sunsky/sunsky.pdf.</a:t>
            </a:r>
          </a:p>
          <a:p>
            <a:pPr marL="457200" marR="0" indent="-457200">
              <a:lnSpc>
                <a:spcPct val="105000"/>
              </a:lnSpc>
              <a:spcBef>
                <a:spcPts val="0"/>
              </a:spcBef>
              <a:spcAft>
                <a:spcPts val="800"/>
              </a:spcAft>
            </a:pP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"The </a:t>
            </a:r>
            <a:r>
              <a:rPr lang="en-US" sz="1400" dirty="0" err="1">
                <a:ea typeface="Times New Roman" panose="02020603050405020304" pitchFamily="18" charset="0"/>
                <a:cs typeface="Times New Roman" panose="02020603050405020304" pitchFamily="18" charset="0"/>
              </a:rPr>
              <a:t>Henyey</a:t>
            </a:r>
            <a:r>
              <a:rPr lang="en-US" sz="1400" dirty="0">
                <a:ea typeface="Times New Roman" panose="02020603050405020304" pitchFamily="18" charset="0"/>
                <a:cs typeface="Times New Roman" panose="02020603050405020304" pitchFamily="18" charset="0"/>
              </a:rPr>
              <a:t>-Greenstein Phase Function." http://www.astro.umd.edu/~jph/HG_note.pdf.</a:t>
            </a:r>
          </a:p>
          <a:p>
            <a:pPr marL="457200" marR="0" indent="-457200">
              <a:lnSpc>
                <a:spcPct val="105000"/>
              </a:lnSpc>
              <a:spcBef>
                <a:spcPts val="0"/>
              </a:spcBef>
              <a:spcAft>
                <a:spcPts val="800"/>
              </a:spcAft>
            </a:pPr>
            <a:r>
              <a:rPr lang="en-US" sz="1400" dirty="0">
                <a:ea typeface="Times New Roman" panose="02020603050405020304" pitchFamily="18" charset="0"/>
                <a:cs typeface="Times New Roman" panose="02020603050405020304" pitchFamily="18" charset="0"/>
              </a:rPr>
              <a:t>Wallner, Simon. </a:t>
            </a:r>
            <a:r>
              <a:rPr lang="en-US" sz="1400" dirty="0" err="1">
                <a:ea typeface="Times New Roman" panose="02020603050405020304" pitchFamily="18" charset="0"/>
                <a:cs typeface="Times New Roman" panose="02020603050405020304" pitchFamily="18" charset="0"/>
              </a:rPr>
              <a:t>n.d.</a:t>
            </a:r>
            <a:r>
              <a:rPr lang="en-US" sz="1400" dirty="0">
                <a:ea typeface="Times New Roman" panose="02020603050405020304" pitchFamily="18" charset="0"/>
                <a:cs typeface="Times New Roman" panose="02020603050405020304" pitchFamily="18" charset="0"/>
              </a:rPr>
              <a:t> </a:t>
            </a:r>
            <a:r>
              <a:rPr lang="en-US" sz="1400" i="1" dirty="0">
                <a:ea typeface="Times New Roman" panose="02020603050405020304" pitchFamily="18" charset="0"/>
                <a:cs typeface="Times New Roman" panose="02020603050405020304" pitchFamily="18" charset="0"/>
              </a:rPr>
              <a:t>Atmospheric Scattering.</a:t>
            </a:r>
            <a:r>
              <a:rPr lang="en-US" sz="1400" dirty="0">
                <a:ea typeface="Times New Roman" panose="02020603050405020304" pitchFamily="18" charset="0"/>
                <a:cs typeface="Times New Roman" panose="02020603050405020304" pitchFamily="18" charset="0"/>
              </a:rPr>
              <a:t> http://www.simonwallner.at/projects/atmospheric-scattering.</a:t>
            </a:r>
          </a:p>
          <a:p>
            <a:pPr marL="457200" marR="0" indent="-457200">
              <a:lnSpc>
                <a:spcPct val="105000"/>
              </a:lnSpc>
              <a:spcBef>
                <a:spcPts val="0"/>
              </a:spcBef>
              <a:spcAft>
                <a:spcPts val="800"/>
              </a:spcAft>
            </a:pPr>
            <a:r>
              <a:rPr lang="en-US" sz="1400" dirty="0">
                <a:ea typeface="Times New Roman" panose="02020603050405020304" pitchFamily="18" charset="0"/>
                <a:cs typeface="Times New Roman" panose="02020603050405020304" pitchFamily="18" charset="0"/>
              </a:rPr>
              <a:t>Xing, </a:t>
            </a:r>
            <a:r>
              <a:rPr lang="en-US" sz="1400" dirty="0" err="1">
                <a:ea typeface="Times New Roman" panose="02020603050405020304" pitchFamily="18" charset="0"/>
                <a:cs typeface="Times New Roman" panose="02020603050405020304" pitchFamily="18" charset="0"/>
              </a:rPr>
              <a:t>Guanyu</a:t>
            </a:r>
            <a:r>
              <a:rPr lang="en-US" sz="1400" dirty="0">
                <a:ea typeface="Times New Roman" panose="02020603050405020304" pitchFamily="18" charset="0"/>
                <a:cs typeface="Times New Roman" panose="02020603050405020304" pitchFamily="18" charset="0"/>
              </a:rPr>
              <a:t>, </a:t>
            </a:r>
            <a:r>
              <a:rPr lang="en-US" sz="1400" dirty="0" err="1">
                <a:ea typeface="Times New Roman" panose="02020603050405020304" pitchFamily="18" charset="0"/>
                <a:cs typeface="Times New Roman" panose="02020603050405020304" pitchFamily="18" charset="0"/>
              </a:rPr>
              <a:t>Xuehong</a:t>
            </a:r>
            <a:r>
              <a:rPr lang="en-US" sz="1400" dirty="0">
                <a:ea typeface="Times New Roman" panose="02020603050405020304" pitchFamily="18" charset="0"/>
                <a:cs typeface="Times New Roman" panose="02020603050405020304" pitchFamily="18" charset="0"/>
              </a:rPr>
              <a:t> Zhou, </a:t>
            </a:r>
            <a:r>
              <a:rPr lang="en-US" sz="1400" dirty="0" err="1">
                <a:ea typeface="Times New Roman" panose="02020603050405020304" pitchFamily="18" charset="0"/>
                <a:cs typeface="Times New Roman" panose="02020603050405020304" pitchFamily="18" charset="0"/>
              </a:rPr>
              <a:t>Qunsheng</a:t>
            </a:r>
            <a:r>
              <a:rPr lang="en-US" sz="1400" dirty="0">
                <a:ea typeface="Times New Roman" panose="02020603050405020304" pitchFamily="18" charset="0"/>
                <a:cs typeface="Times New Roman" panose="02020603050405020304" pitchFamily="18" charset="0"/>
              </a:rPr>
              <a:t> Peng, </a:t>
            </a:r>
            <a:r>
              <a:rPr lang="en-US" sz="1400" dirty="0" err="1">
                <a:ea typeface="Times New Roman" panose="02020603050405020304" pitchFamily="18" charset="0"/>
                <a:cs typeface="Times New Roman" panose="02020603050405020304" pitchFamily="18" charset="0"/>
              </a:rPr>
              <a:t>Yanli</a:t>
            </a:r>
            <a:r>
              <a:rPr lang="en-US" sz="1400" dirty="0">
                <a:ea typeface="Times New Roman" panose="02020603050405020304" pitchFamily="18" charset="0"/>
                <a:cs typeface="Times New Roman" panose="02020603050405020304" pitchFamily="18" charset="0"/>
              </a:rPr>
              <a:t> Liu, and </a:t>
            </a:r>
            <a:r>
              <a:rPr lang="en-US" sz="1400" dirty="0" err="1">
                <a:ea typeface="Times New Roman" panose="02020603050405020304" pitchFamily="18" charset="0"/>
                <a:cs typeface="Times New Roman" panose="02020603050405020304" pitchFamily="18" charset="0"/>
              </a:rPr>
              <a:t>Xueying</a:t>
            </a:r>
            <a:r>
              <a:rPr lang="en-US" sz="1400" dirty="0">
                <a:ea typeface="Times New Roman" panose="02020603050405020304" pitchFamily="18" charset="0"/>
                <a:cs typeface="Times New Roman" panose="02020603050405020304" pitchFamily="18" charset="0"/>
              </a:rPr>
              <a:t> Qin. 2013. "Lighting Simulation of Augmented Outdoor Scene Based on a." </a:t>
            </a:r>
            <a:r>
              <a:rPr lang="en-US" sz="1400" i="1" dirty="0">
                <a:ea typeface="Times New Roman" panose="02020603050405020304" pitchFamily="18" charset="0"/>
                <a:cs typeface="Times New Roman" panose="02020603050405020304" pitchFamily="18" charset="0"/>
              </a:rPr>
              <a:t>Computer Graphics Forum</a:t>
            </a:r>
            <a:r>
              <a:rPr lang="en-US" sz="1400" dirty="0">
                <a:ea typeface="Times New Roman" panose="02020603050405020304" pitchFamily="18" charset="0"/>
                <a:cs typeface="Times New Roman" panose="02020603050405020304" pitchFamily="18" charset="0"/>
              </a:rPr>
              <a:t> 32 (7).</a:t>
            </a:r>
            <a:endParaRPr lang="en-US" sz="14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94931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107</TotalTime>
  <Words>1209</Words>
  <Application>Microsoft Office PowerPoint</Application>
  <PresentationFormat>Widescreen</PresentationFormat>
  <Paragraphs>121</Paragraphs>
  <Slides>11</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Cambria Math</vt:lpstr>
      <vt:lpstr>Century Gothic</vt:lpstr>
      <vt:lpstr>Consolas</vt:lpstr>
      <vt:lpstr>Times New Roman</vt:lpstr>
      <vt:lpstr>Wingdings</vt:lpstr>
      <vt:lpstr>Wingdings 3</vt:lpstr>
      <vt:lpstr>Ion</vt:lpstr>
      <vt:lpstr>Atmospheric Scattering in Three JS</vt:lpstr>
      <vt:lpstr>Rayleigh and Mie Scattering</vt:lpstr>
      <vt:lpstr>Relevant Formulas</vt:lpstr>
      <vt:lpstr>Formula Visualizations</vt:lpstr>
      <vt:lpstr>Simon Wallner and Joshua Koo</vt:lpstr>
      <vt:lpstr>My Improvements</vt:lpstr>
      <vt:lpstr>Joshua Koo vs. Angela Gross</vt:lpstr>
      <vt:lpstr>Analysis</vt:lpstr>
      <vt:lpstr>Analysis</vt:lpstr>
      <vt:lpstr>Demonstration</vt:lpstr>
      <vt:lpstr>Bibliography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Atmospheric Scattering in Three JS</dc:title>
  <dc:creator>Microsoft account</dc:creator>
  <cp:lastModifiedBy>Microsoft account</cp:lastModifiedBy>
  <cp:revision>16</cp:revision>
  <dcterms:created xsi:type="dcterms:W3CDTF">2014-11-28T23:45:55Z</dcterms:created>
  <dcterms:modified xsi:type="dcterms:W3CDTF">2014-12-01T07:19:16Z</dcterms:modified>
</cp:coreProperties>
</file>